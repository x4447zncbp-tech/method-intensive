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10287000" cx="18288000"/>
  <p:notesSz cx="6858000" cy="9144000"/>
  <p:embeddedFontLst>
    <p:embeddedFont>
      <p:font typeface="Inter"/>
      <p:regular r:id="rId27"/>
      <p:bold r:id="rId28"/>
      <p:italic r:id="rId29"/>
      <p:boldItalic r:id="rId30"/>
    </p:embeddedFont>
    <p:embeddedFont>
      <p:font typeface="Inter Medium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  <p15:guide id="3" pos="288">
          <p15:clr>
            <a:srgbClr val="747775"/>
          </p15:clr>
        </p15:guide>
        <p15:guide id="4" orient="horz" pos="288">
          <p15:clr>
            <a:srgbClr val="747775"/>
          </p15:clr>
        </p15:guide>
        <p15:guide id="5" pos="11232">
          <p15:clr>
            <a:srgbClr val="747775"/>
          </p15:clr>
        </p15:guide>
        <p15:guide id="6" orient="horz" pos="619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  <p:guide pos="288"/>
        <p:guide pos="288" orient="horz"/>
        <p:guide pos="11232"/>
        <p:guide pos="619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6.xml"/><Relationship Id="rId33" Type="http://schemas.openxmlformats.org/officeDocument/2006/relationships/font" Target="fonts/InterMedium-italic.fntdata"/><Relationship Id="rId10" Type="http://schemas.openxmlformats.org/officeDocument/2006/relationships/slide" Target="slides/slide5.xml"/><Relationship Id="rId32" Type="http://schemas.openxmlformats.org/officeDocument/2006/relationships/font" Target="fonts/InterMedium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InterMedium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9b4b9a62c9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9b4b9a62c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5bcbcc3f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5bcbcc3f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5bcbcc3f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5bcbcc3f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3a97b1cc7709f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3a97b1cc7709f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3a97b1cc7709f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3a97b1cc7709f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3a97b1cc7709f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3a97b1cc7709f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3a97b1cc7709f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3a97b1cc7709f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3a97b1cc7709f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3a97b1cc7709f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3a97b1cc7709f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3a97b1cc7709f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3a97b1cc7709f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3a97b1cc7709f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3a97b1cc7709f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c3a97b1cc7709f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5bcbcc3f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5bcbcc3f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9b4b9a62c9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9b4b9a62c9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9b4b9a62c9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9b4b9a62c9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130bc728d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130bc728d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130bc728d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d130bc728d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d130bc728d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d130bc728d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130bc728d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d130bc728d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130bc728d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d130bc728d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9b4b9a62c9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9b4b9a62c9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9b4b9a62c9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9b4b9a62c9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gif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gotaddedvalue.com/method/" TargetMode="External"/><Relationship Id="rId4" Type="http://schemas.openxmlformats.org/officeDocument/2006/relationships/hyperlink" Target="https://www.instagram.com/got_added_value/" TargetMode="External"/><Relationship Id="rId5" Type="http://schemas.openxmlformats.org/officeDocument/2006/relationships/hyperlink" Target="https://t.me/addtoyourhead" TargetMode="External"/><Relationship Id="rId6" Type="http://schemas.openxmlformats.org/officeDocument/2006/relationships/image" Target="../media/image2.png"/><Relationship Id="rId7" Type="http://schemas.openxmlformats.org/officeDocument/2006/relationships/image" Target="../media/image5.gif"/><Relationship Id="rId8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50" l="0" r="0" t="40"/>
          <a:stretch/>
        </p:blipFill>
        <p:spPr>
          <a:xfrm>
            <a:off x="3731700" y="513075"/>
            <a:ext cx="14190423" cy="1228495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3700125" y="7672700"/>
            <a:ext cx="4052400" cy="13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Содержание настоящего документа </a:t>
            </a:r>
            <a:endParaRPr sz="12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является коммерческой тайной</a:t>
            </a:r>
            <a:endParaRPr sz="12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Got Added Value LLC</a:t>
            </a:r>
            <a:endParaRPr sz="12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3180751"/>
            <a:ext cx="6962360" cy="13428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07250" y="7587000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endParaRPr sz="20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064650" y="7587000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Программа курса</a:t>
            </a:r>
            <a:endParaRPr sz="20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7928209" y="2681542"/>
            <a:ext cx="3527400" cy="23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3.0</a:t>
            </a:r>
            <a:endParaRPr sz="1350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/>
        </p:nvSpPr>
        <p:spPr>
          <a:xfrm>
            <a:off x="240150" y="0"/>
            <a:ext cx="8966400" cy="7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Как 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будет 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устроен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Method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67" name="Google Shape;67;p14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8" name="Google Shape;68;p14"/>
          <p:cNvCxnSpPr/>
          <p:nvPr/>
        </p:nvCxnSpPr>
        <p:spPr>
          <a:xfrm>
            <a:off x="7244938" y="556475"/>
            <a:ext cx="0" cy="922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9" name="Google Shape;69;p14"/>
          <p:cNvPicPr preferRelativeResize="0"/>
          <p:nvPr/>
        </p:nvPicPr>
        <p:blipFill rotWithShape="1">
          <a:blip r:embed="rId4">
            <a:alphaModFix/>
          </a:blip>
          <a:srcRect b="0" l="11239" r="11247" t="0"/>
          <a:stretch/>
        </p:blipFill>
        <p:spPr>
          <a:xfrm>
            <a:off x="9144000" y="2559650"/>
            <a:ext cx="7077200" cy="516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 rotWithShape="1">
          <a:blip r:embed="rId5">
            <a:alphaModFix/>
          </a:blip>
          <a:srcRect b="-29694" l="-11684" r="-11696" t="-29694"/>
          <a:stretch/>
        </p:blipFill>
        <p:spPr>
          <a:xfrm rot="3600002">
            <a:off x="253199" y="7437327"/>
            <a:ext cx="2606451" cy="291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/>
        </p:nvSpPr>
        <p:spPr>
          <a:xfrm>
            <a:off x="240150" y="2882250"/>
            <a:ext cx="8787300" cy="3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Курс выстроен идентично тому как происходит разработка проекта с использованием Метода.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78" name="Google Shape;78;p15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307250" y="7587000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 01.03.26 до 13.05.26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4">
            <a:alphaModFix/>
          </a:blip>
          <a:srcRect b="-14533" l="0" r="0" t="-14533"/>
          <a:stretch/>
        </p:blipFill>
        <p:spPr>
          <a:xfrm>
            <a:off x="457200" y="183175"/>
            <a:ext cx="2226896" cy="249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/>
        </p:nvSpPr>
        <p:spPr>
          <a:xfrm>
            <a:off x="240150" y="2882250"/>
            <a:ext cx="7980000" cy="3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Занятия будут идти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два раза в неделю: 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"/>
              <a:buChar char="-"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вечером в среду 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"/>
              <a:buChar char="-"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днем в воскресенье.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88" name="Google Shape;88;p16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307250" y="7587000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 01.03.26 до 13.05.26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0" name="Google Shape;90;p16"/>
          <p:cNvPicPr preferRelativeResize="0"/>
          <p:nvPr/>
        </p:nvPicPr>
        <p:blipFill rotWithShape="1">
          <a:blip r:embed="rId4">
            <a:alphaModFix/>
          </a:blip>
          <a:srcRect b="-14533" l="0" r="0" t="-14533"/>
          <a:stretch/>
        </p:blipFill>
        <p:spPr>
          <a:xfrm rot="1709177">
            <a:off x="761999" y="183176"/>
            <a:ext cx="2226900" cy="249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/>
        </p:nvSpPr>
        <p:spPr>
          <a:xfrm>
            <a:off x="240150" y="2882250"/>
            <a:ext cx="7599300" cy="3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 среду проходит лекция по теории (2 часа). 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 воскресенье на туже тему большое практическое занятие (4 часа)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98" name="Google Shape;98;p17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307250" y="7587000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 01.03.26 до 13.05.26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0" name="Google Shape;100;p17"/>
          <p:cNvPicPr preferRelativeResize="0"/>
          <p:nvPr/>
        </p:nvPicPr>
        <p:blipFill rotWithShape="1">
          <a:blip r:embed="rId4">
            <a:alphaModFix/>
          </a:blip>
          <a:srcRect b="-14533" l="0" r="0" t="-14533"/>
          <a:stretch/>
        </p:blipFill>
        <p:spPr>
          <a:xfrm rot="3509837">
            <a:off x="1143001" y="183177"/>
            <a:ext cx="2226899" cy="2490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/>
        </p:nvSpPr>
        <p:spPr>
          <a:xfrm>
            <a:off x="240150" y="2882250"/>
            <a:ext cx="8003400" cy="3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Также будет домашнее задание на усвоение темы, которую проходим. Задание будет таким чтобы его можно было выполнить не тратя больше 1 часа в день.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08" name="Google Shape;108;p18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307250" y="7587000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 01.03.26 до 13.05.26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0" name="Google Shape;110;p18"/>
          <p:cNvPicPr preferRelativeResize="0"/>
          <p:nvPr/>
        </p:nvPicPr>
        <p:blipFill rotWithShape="1">
          <a:blip r:embed="rId4">
            <a:alphaModFix/>
          </a:blip>
          <a:srcRect b="-14533" l="0" r="0" t="-14533"/>
          <a:stretch/>
        </p:blipFill>
        <p:spPr>
          <a:xfrm rot="5400000">
            <a:off x="1524000" y="183176"/>
            <a:ext cx="2226900" cy="249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/>
        </p:nvSpPr>
        <p:spPr>
          <a:xfrm>
            <a:off x="240150" y="2882250"/>
            <a:ext cx="9339300" cy="3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Каждое занятие будет сопровождаться обучением как ускорить этот этап 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 помощью ИИ, плюс вы получите готовые инструкции, которыми можно будет </a:t>
            </a: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обучить</a:t>
            </a: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свои модели. 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6" name="Google Shape;11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18" name="Google Shape;118;p19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307250" y="7587000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 01.03.26 до 13.05.26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0" name="Google Shape;120;p19"/>
          <p:cNvPicPr preferRelativeResize="0"/>
          <p:nvPr/>
        </p:nvPicPr>
        <p:blipFill rotWithShape="1">
          <a:blip r:embed="rId4">
            <a:alphaModFix/>
          </a:blip>
          <a:srcRect b="-14533" l="0" r="0" t="-14533"/>
          <a:stretch/>
        </p:blipFill>
        <p:spPr>
          <a:xfrm rot="7200341">
            <a:off x="1904999" y="183175"/>
            <a:ext cx="2226900" cy="249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/>
        </p:nvSpPr>
        <p:spPr>
          <a:xfrm>
            <a:off x="240150" y="2882250"/>
            <a:ext cx="8003400" cy="3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Раз в месяц будут проходить общие mindfulness практики направленные на помощь в усвоении материала. 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6" name="Google Shape;12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28" name="Google Shape;128;p20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307250" y="7587000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 01.03.26 до 13.05.26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0" name="Google Shape;130;p20"/>
          <p:cNvPicPr preferRelativeResize="0"/>
          <p:nvPr/>
        </p:nvPicPr>
        <p:blipFill rotWithShape="1">
          <a:blip r:embed="rId4">
            <a:alphaModFix/>
          </a:blip>
          <a:srcRect b="-14533" l="0" r="0" t="-14533"/>
          <a:stretch/>
        </p:blipFill>
        <p:spPr>
          <a:xfrm rot="9003133">
            <a:off x="2362196" y="183174"/>
            <a:ext cx="2226902" cy="2490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/>
        </p:nvSpPr>
        <p:spPr>
          <a:xfrm>
            <a:off x="240150" y="2882250"/>
            <a:ext cx="8806500" cy="3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У каждого студента будет возможность купить со скидкой</a:t>
            </a: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персональные </a:t>
            </a: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mindfulness</a:t>
            </a: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практики с Леной Шиляевой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38" name="Google Shape;138;p21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307250" y="7587000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 01.03.26 до 13.05.26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0" name="Google Shape;140;p21"/>
          <p:cNvPicPr preferRelativeResize="0"/>
          <p:nvPr/>
        </p:nvPicPr>
        <p:blipFill rotWithShape="1">
          <a:blip r:embed="rId4">
            <a:alphaModFix/>
          </a:blip>
          <a:srcRect b="-14533" l="0" r="0" t="-14533"/>
          <a:stretch/>
        </p:blipFill>
        <p:spPr>
          <a:xfrm rot="10800000">
            <a:off x="2743194" y="183174"/>
            <a:ext cx="2226904" cy="24903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/>
        </p:nvSpPr>
        <p:spPr>
          <a:xfrm>
            <a:off x="240150" y="2882250"/>
            <a:ext cx="8646300" cy="3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Каждая команда </a:t>
            </a: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вконец курса сделает презентационный борд, который будет оценивать жюри состоящее из креативных директоров международных агентств.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6" name="Google Shape;14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48" name="Google Shape;148;p22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307250" y="7587000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 01.03.26 до 13.05.26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0" name="Google Shape;150;p22"/>
          <p:cNvPicPr preferRelativeResize="0"/>
          <p:nvPr/>
        </p:nvPicPr>
        <p:blipFill rotWithShape="1">
          <a:blip r:embed="rId4">
            <a:alphaModFix/>
          </a:blip>
          <a:srcRect b="-14533" l="0" r="0" t="-14533"/>
          <a:stretch/>
        </p:blipFill>
        <p:spPr>
          <a:xfrm rot="-9031733">
            <a:off x="3200392" y="183175"/>
            <a:ext cx="2226905" cy="249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/>
        </p:nvSpPr>
        <p:spPr>
          <a:xfrm>
            <a:off x="240150" y="2882250"/>
            <a:ext cx="7824900" cy="3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На первом и втором потоке в жюри было 7 человек с 80 Каннскими львами на всех. Это уровень жюри крупного международного фестиваля.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6" name="Google Shape;15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3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58" name="Google Shape;158;p23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307250" y="7587000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 01.03.26 до 13.05.26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0" name="Google Shape;160;p23"/>
          <p:cNvPicPr preferRelativeResize="0"/>
          <p:nvPr/>
        </p:nvPicPr>
        <p:blipFill rotWithShape="1">
          <a:blip r:embed="rId4">
            <a:alphaModFix/>
          </a:blip>
          <a:srcRect b="-14533" l="0" r="0" t="-14533"/>
          <a:stretch/>
        </p:blipFill>
        <p:spPr>
          <a:xfrm rot="-7195695">
            <a:off x="3733792" y="183176"/>
            <a:ext cx="2226906" cy="249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/>
        </p:nvSpPr>
        <p:spPr>
          <a:xfrm>
            <a:off x="240150" y="2882250"/>
            <a:ext cx="7824900" cy="3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У вас есть возможность 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дать свой бриф на курс</a:t>
            </a: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на которым будут работать студенты.</a:t>
            </a:r>
            <a:endParaRPr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6" name="Google Shape;16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4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68" name="Google Shape;168;p24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9" name="Google Shape;169;p24"/>
          <p:cNvSpPr txBox="1"/>
          <p:nvPr/>
        </p:nvSpPr>
        <p:spPr>
          <a:xfrm>
            <a:off x="307250" y="7587000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 01.03.26 до 13.05.26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0" name="Google Shape;170;p24"/>
          <p:cNvPicPr preferRelativeResize="0"/>
          <p:nvPr/>
        </p:nvPicPr>
        <p:blipFill rotWithShape="1">
          <a:blip r:embed="rId4">
            <a:alphaModFix/>
          </a:blip>
          <a:srcRect b="-14533" l="0" r="0" t="-14533"/>
          <a:stretch/>
        </p:blipFill>
        <p:spPr>
          <a:xfrm rot="-7195695">
            <a:off x="3733792" y="183176"/>
            <a:ext cx="2226906" cy="249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5"/>
          <p:cNvPicPr preferRelativeResize="0"/>
          <p:nvPr/>
        </p:nvPicPr>
        <p:blipFill rotWithShape="1">
          <a:blip r:embed="rId3">
            <a:alphaModFix/>
          </a:blip>
          <a:srcRect b="4256" l="0" r="0" t="6886"/>
          <a:stretch/>
        </p:blipFill>
        <p:spPr>
          <a:xfrm>
            <a:off x="534900" y="556475"/>
            <a:ext cx="17210301" cy="7347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5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78" name="Google Shape;178;p25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79" name="Google Shape;179;p25"/>
          <p:cNvCxnSpPr/>
          <p:nvPr/>
        </p:nvCxnSpPr>
        <p:spPr>
          <a:xfrm rot="10800000">
            <a:off x="534900" y="8546450"/>
            <a:ext cx="17295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25"/>
          <p:cNvSpPr txBox="1"/>
          <p:nvPr/>
        </p:nvSpPr>
        <p:spPr>
          <a:xfrm>
            <a:off x="307250" y="7587000"/>
            <a:ext cx="60576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…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407811" y="899587"/>
            <a:ext cx="9706573" cy="841064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6"/>
          <p:cNvSpPr txBox="1"/>
          <p:nvPr/>
        </p:nvSpPr>
        <p:spPr>
          <a:xfrm>
            <a:off x="240150" y="2882250"/>
            <a:ext cx="7053600" cy="14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Расписание</a:t>
            </a:r>
            <a:endParaRPr sz="40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Method…</a:t>
            </a:r>
            <a:endParaRPr sz="40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7" name="Google Shape;18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6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89" name="Google Shape;189;p26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 txBox="1"/>
          <p:nvPr/>
        </p:nvSpPr>
        <p:spPr>
          <a:xfrm>
            <a:off x="240150" y="0"/>
            <a:ext cx="8966400" cy="24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Март 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95" name="Google Shape;19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7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97" name="Google Shape;197;p27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8" name="Google Shape;198;p27"/>
          <p:cNvSpPr txBox="1"/>
          <p:nvPr/>
        </p:nvSpPr>
        <p:spPr>
          <a:xfrm>
            <a:off x="255700" y="2376925"/>
            <a:ext cx="58329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До 1 марта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“Что из себя представляет современная реклама?” 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- вводная лекция про то, какой может быть современная реклама. Поможет нам всем быть на одной волне перед началом курса.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Лекция предзаписана и будет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опубликована на канале курса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9" name="Google Shape;199;p27"/>
          <p:cNvSpPr txBox="1"/>
          <p:nvPr/>
        </p:nvSpPr>
        <p:spPr>
          <a:xfrm>
            <a:off x="6088618" y="2376941"/>
            <a:ext cx="60837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До 1 марта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«Как появился Method?»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Что такое Method, как он появился, на какой философии базируется и из каких основных этапов состоит. Лекция поможет вам понять какую рекламу учит делать курс.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Лекция предзаписана и будет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опубликована на канале курса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Google Shape;200;p27"/>
          <p:cNvSpPr txBox="1"/>
          <p:nvPr/>
        </p:nvSpPr>
        <p:spPr>
          <a:xfrm>
            <a:off x="12025081" y="2376925"/>
            <a:ext cx="59070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До 1 марта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«Как майндфулнес связан с креативом?»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Разберем что такое майндфулнес и как он связан с креативностью и ее развитием.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Лекция предзаписана и будет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опубликована на канале курса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01" name="Google Shape;201;p27"/>
          <p:cNvCxnSpPr/>
          <p:nvPr/>
        </p:nvCxnSpPr>
        <p:spPr>
          <a:xfrm rot="10800000">
            <a:off x="307250" y="1745031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" name="Google Shape;202;p27"/>
          <p:cNvSpPr txBox="1"/>
          <p:nvPr/>
        </p:nvSpPr>
        <p:spPr>
          <a:xfrm>
            <a:off x="6088604" y="6479827"/>
            <a:ext cx="55842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18 марта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«Перестаньте молиться на идеи»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Что такое креатив, как делать сильные проекты не только за счет идей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Среда / Лекция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Денис Елисеев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" name="Google Shape;203;p27"/>
          <p:cNvSpPr txBox="1"/>
          <p:nvPr/>
        </p:nvSpPr>
        <p:spPr>
          <a:xfrm>
            <a:off x="11977782" y="6479822"/>
            <a:ext cx="53301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22 марта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«Креатив не продает…»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Разберем что такое креатив и зачем он нужен и что такое стратегия и зачем она нужна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Воскресенье / Лекция + практика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Денис Елисеев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Google Shape;204;p27"/>
          <p:cNvSpPr txBox="1"/>
          <p:nvPr/>
        </p:nvSpPr>
        <p:spPr>
          <a:xfrm>
            <a:off x="255700" y="6479822"/>
            <a:ext cx="58329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15 марта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Знакомство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Объяснение программы и правил. Представления всех участников.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Воскресенье / Практика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Все лекторы</a:t>
            </a: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05" name="Google Shape;205;p27"/>
          <p:cNvCxnSpPr/>
          <p:nvPr/>
        </p:nvCxnSpPr>
        <p:spPr>
          <a:xfrm rot="10800000">
            <a:off x="383450" y="5859831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/>
        </p:nvSpPr>
        <p:spPr>
          <a:xfrm>
            <a:off x="240150" y="0"/>
            <a:ext cx="8966400" cy="24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Март / Апрель 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211" name="Google Shape;21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8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13" name="Google Shape;213;p28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" name="Google Shape;214;p28"/>
          <p:cNvSpPr txBox="1"/>
          <p:nvPr/>
        </p:nvSpPr>
        <p:spPr>
          <a:xfrm>
            <a:off x="255700" y="2376925"/>
            <a:ext cx="58329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25 марта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«Ум новичка и автоматизмы»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Учимся избавляться от предубеждений, стереотипов и шаблонных идей.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Среда / Лекция + практика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Лена Шиляева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" name="Google Shape;215;p28"/>
          <p:cNvSpPr txBox="1"/>
          <p:nvPr/>
        </p:nvSpPr>
        <p:spPr>
          <a:xfrm>
            <a:off x="6088625" y="2376950"/>
            <a:ext cx="58329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29 марта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«Искусственный интеллект, как партнер»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Обзор основных платформ и правила работы с ними. Лекция поможет вам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за несколько часов освоить базовые принципы работы с ИИ.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Воскресенье / Лекция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Саша Доброкотов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Google Shape;216;p28"/>
          <p:cNvSpPr txBox="1"/>
          <p:nvPr/>
        </p:nvSpPr>
        <p:spPr>
          <a:xfrm>
            <a:off x="12025081" y="2376925"/>
            <a:ext cx="59070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29 марта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Командная сонастройка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Разбиваемся на команды. Создаем правила и ритуалы работы вместе.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Воскресенье / Практика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Денис Елисеев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17" name="Google Shape;217;p28"/>
          <p:cNvCxnSpPr/>
          <p:nvPr/>
        </p:nvCxnSpPr>
        <p:spPr>
          <a:xfrm rot="10800000">
            <a:off x="307250" y="1745031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" name="Google Shape;218;p28"/>
          <p:cNvSpPr txBox="1"/>
          <p:nvPr/>
        </p:nvSpPr>
        <p:spPr>
          <a:xfrm>
            <a:off x="6088604" y="6479827"/>
            <a:ext cx="55842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05 апреля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«Поиск инсайтов или как проводить глубинное интервью»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Разбираемся как проводить глубинные интервью, и искать инсайты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Воскресенье / Лекция + практика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Денис Елисеев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9" name="Google Shape;219;p28"/>
          <p:cNvSpPr txBox="1"/>
          <p:nvPr/>
        </p:nvSpPr>
        <p:spPr>
          <a:xfrm>
            <a:off x="11977782" y="6479822"/>
            <a:ext cx="53301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08 апреля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Вопросы и ответы 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по предыдущей лекции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Среда / Вопросы и ответы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Денис Елисеев 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Google Shape;220;p28"/>
          <p:cNvSpPr txBox="1"/>
          <p:nvPr/>
        </p:nvSpPr>
        <p:spPr>
          <a:xfrm>
            <a:off x="255700" y="6479822"/>
            <a:ext cx="58329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01 апреля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“Как эмоциональнальный интеллект поможет на шторминге и в работе с командой”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Среда / Лекция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Лена Шиляева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21" name="Google Shape;221;p28"/>
          <p:cNvCxnSpPr/>
          <p:nvPr/>
        </p:nvCxnSpPr>
        <p:spPr>
          <a:xfrm rot="10800000">
            <a:off x="383450" y="5859831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 txBox="1"/>
          <p:nvPr/>
        </p:nvSpPr>
        <p:spPr>
          <a:xfrm>
            <a:off x="240150" y="0"/>
            <a:ext cx="8966400" cy="24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Апрель 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227" name="Google Shape;22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9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29" name="Google Shape;229;p29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Google Shape;230;p29"/>
          <p:cNvSpPr txBox="1"/>
          <p:nvPr/>
        </p:nvSpPr>
        <p:spPr>
          <a:xfrm>
            <a:off x="12057281" y="2224500"/>
            <a:ext cx="57735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19 апреля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«Мемы наше все или как найти инсайты в анекдотах»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Что общего у инсайта, мемов и камеди, и как найти идею в юморе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Воскресенье / Лекция + практика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Денис Елисеев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1" name="Google Shape;231;p29"/>
          <p:cNvSpPr txBox="1"/>
          <p:nvPr/>
        </p:nvSpPr>
        <p:spPr>
          <a:xfrm>
            <a:off x="245800" y="6574275"/>
            <a:ext cx="56223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22 апреля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«Как с помощью искусственного интеллекта собрать видеокейс» 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Разберем как с помощью искусственного интеллекта собрать готовый видеокейс, презентующий идею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Среда / Лекция + Практика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Саша Доброкотов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2" name="Google Shape;232;p29"/>
          <p:cNvSpPr txBox="1"/>
          <p:nvPr/>
        </p:nvSpPr>
        <p:spPr>
          <a:xfrm>
            <a:off x="6136022" y="6584719"/>
            <a:ext cx="51357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26 апреля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«Одностраничный бриф как уникальная креативная техника»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Как сам бриф стимулирует ваше креативное мышление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Воскресенье / Лекция + практика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Денис Елисеев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33" name="Google Shape;233;p29"/>
          <p:cNvCxnSpPr/>
          <p:nvPr/>
        </p:nvCxnSpPr>
        <p:spPr>
          <a:xfrm rot="10800000">
            <a:off x="307250" y="1745031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29"/>
          <p:cNvSpPr txBox="1"/>
          <p:nvPr/>
        </p:nvSpPr>
        <p:spPr>
          <a:xfrm>
            <a:off x="12030975" y="6555469"/>
            <a:ext cx="57735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29 апреля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Практическая работа 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Среда / Практика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Денис Елисеев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5" name="Google Shape;235;p29"/>
          <p:cNvSpPr txBox="1"/>
          <p:nvPr/>
        </p:nvSpPr>
        <p:spPr>
          <a:xfrm>
            <a:off x="254600" y="2300693"/>
            <a:ext cx="5446200" cy="38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12 апреля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«Синтез смыслов и разработка сообщений»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Как найти правильную мотивацию и сообщение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Воскресенье / Лекция + практика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Денис Елисеев 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6" name="Google Shape;236;p29"/>
          <p:cNvSpPr txBox="1"/>
          <p:nvPr/>
        </p:nvSpPr>
        <p:spPr>
          <a:xfrm>
            <a:off x="6126600" y="2300700"/>
            <a:ext cx="46125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15 апреля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Сессия вопросов и ответов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Сессия ответов на вопросы студентов, которые раскрывают глубже тематику курса и не только.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Среда / Практика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Денис Елисеев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37" name="Google Shape;237;p29"/>
          <p:cNvCxnSpPr/>
          <p:nvPr/>
        </p:nvCxnSpPr>
        <p:spPr>
          <a:xfrm rot="10800000">
            <a:off x="383450" y="5859831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"/>
          <p:cNvSpPr txBox="1"/>
          <p:nvPr/>
        </p:nvSpPr>
        <p:spPr>
          <a:xfrm>
            <a:off x="240150" y="0"/>
            <a:ext cx="8966400" cy="24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Апрель / Май 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243" name="Google Shape;24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0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45" name="Google Shape;245;p30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6" name="Google Shape;246;p30"/>
          <p:cNvSpPr txBox="1"/>
          <p:nvPr/>
        </p:nvSpPr>
        <p:spPr>
          <a:xfrm>
            <a:off x="12057281" y="2224500"/>
            <a:ext cx="57735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10 мая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«Драматизация, как правильно продавать свою идею» 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Уникальная система создания кейса, практика собранная на 15 летнем опыте побед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 международных фестивалях.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Воскресенье / Лекция + практика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Денис Елисеев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7" name="Google Shape;247;p30"/>
          <p:cNvSpPr txBox="1"/>
          <p:nvPr/>
        </p:nvSpPr>
        <p:spPr>
          <a:xfrm>
            <a:off x="245800" y="6574274"/>
            <a:ext cx="59688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13 мая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Практическая работа 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Среда / Практика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Денис Елисеев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8" name="Google Shape;248;p30"/>
          <p:cNvSpPr txBox="1"/>
          <p:nvPr/>
        </p:nvSpPr>
        <p:spPr>
          <a:xfrm>
            <a:off x="6136022" y="6584719"/>
            <a:ext cx="51357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16 мая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Практическая работа 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(Подготовка дипломных работ) 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Суббота / Практика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Денис Елисеев /  Саша Доброкотов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49" name="Google Shape;249;p30"/>
          <p:cNvCxnSpPr/>
          <p:nvPr/>
        </p:nvCxnSpPr>
        <p:spPr>
          <a:xfrm rot="10800000">
            <a:off x="307250" y="1745031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30"/>
          <p:cNvSpPr txBox="1"/>
          <p:nvPr/>
        </p:nvSpPr>
        <p:spPr>
          <a:xfrm>
            <a:off x="12030975" y="6555469"/>
            <a:ext cx="57735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17 мая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Практическая работа 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(Подготовка дипломных работ) 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Воскресенье / Практика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Денис Елисеев /  Саша Доброкотов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1" name="Google Shape;251;p30"/>
          <p:cNvSpPr txBox="1"/>
          <p:nvPr/>
        </p:nvSpPr>
        <p:spPr>
          <a:xfrm>
            <a:off x="254600" y="2300693"/>
            <a:ext cx="5446200" cy="38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03 мая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«Одностраничный бриф как уникальная креативная техника»</a:t>
            </a: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Вторая версия брифа.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Воскресенье / Лекция + практика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Денис Елисеев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30"/>
          <p:cNvSpPr txBox="1"/>
          <p:nvPr/>
        </p:nvSpPr>
        <p:spPr>
          <a:xfrm>
            <a:off x="6126609" y="2300693"/>
            <a:ext cx="44145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06 мая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Практическая работа 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Среда / Практика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Денис Елисеев 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53" name="Google Shape;253;p30"/>
          <p:cNvCxnSpPr/>
          <p:nvPr/>
        </p:nvCxnSpPr>
        <p:spPr>
          <a:xfrm rot="10800000">
            <a:off x="383450" y="5859831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1"/>
          <p:cNvSpPr txBox="1"/>
          <p:nvPr/>
        </p:nvSpPr>
        <p:spPr>
          <a:xfrm>
            <a:off x="240150" y="0"/>
            <a:ext cx="8966400" cy="24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Май 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259" name="Google Shape;25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1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61" name="Google Shape;261;p31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p31"/>
          <p:cNvSpPr txBox="1"/>
          <p:nvPr/>
        </p:nvSpPr>
        <p:spPr>
          <a:xfrm>
            <a:off x="12057281" y="2224500"/>
            <a:ext cx="57735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27 мая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Выпускной 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Вручение дипломов, объявление победителей курса, онлайн вечеринка.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Среда / Практика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Все лекторы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63" name="Google Shape;263;p31"/>
          <p:cNvCxnSpPr/>
          <p:nvPr/>
        </p:nvCxnSpPr>
        <p:spPr>
          <a:xfrm rot="10800000">
            <a:off x="307250" y="1745031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31"/>
          <p:cNvSpPr txBox="1"/>
          <p:nvPr/>
        </p:nvSpPr>
        <p:spPr>
          <a:xfrm>
            <a:off x="254600" y="2300693"/>
            <a:ext cx="5446200" cy="38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20 мая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Практическая работа 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Финальная сдача дипломных работ.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Среда / Практика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Денис Елисеев /  Саша Доброкотов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5" name="Google Shape;265;p31"/>
          <p:cNvSpPr txBox="1"/>
          <p:nvPr/>
        </p:nvSpPr>
        <p:spPr>
          <a:xfrm>
            <a:off x="6126609" y="2300693"/>
            <a:ext cx="44145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20 мая - 26 мая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Жюрение работ </a:t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Международное жюри состоящее из призеров Каннского фестиваля рекламы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66" name="Google Shape;266;p31"/>
          <p:cNvCxnSpPr/>
          <p:nvPr/>
        </p:nvCxnSpPr>
        <p:spPr>
          <a:xfrm rot="10800000">
            <a:off x="383450" y="5859831"/>
            <a:ext cx="1735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/>
          <p:nvPr/>
        </p:nvSpPr>
        <p:spPr>
          <a:xfrm>
            <a:off x="240150" y="0"/>
            <a:ext cx="8966400" cy="7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Все подробности будут </a:t>
            </a:r>
            <a:r>
              <a:rPr lang="en" sz="7000" u="sng">
                <a:solidFill>
                  <a:schemeClr val="hlink"/>
                </a:solidFill>
                <a:latin typeface="Inter Medium"/>
                <a:ea typeface="Inter Medium"/>
                <a:cs typeface="Inter Medium"/>
                <a:sym typeface="Inter Medium"/>
                <a:hlinkClick r:id="rId3"/>
              </a:rPr>
              <a:t>на сайте курса</a:t>
            </a:r>
            <a:r>
              <a:rPr lang="en" sz="7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 и в наших соц сетях.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 u="sng">
                <a:solidFill>
                  <a:schemeClr val="hlink"/>
                </a:solidFill>
                <a:latin typeface="Inter Medium"/>
                <a:ea typeface="Inter Medium"/>
                <a:cs typeface="Inter Medium"/>
                <a:sym typeface="Inter Medium"/>
                <a:hlinkClick r:id="rId4"/>
              </a:rPr>
              <a:t>Инстаграм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 u="sng">
                <a:solidFill>
                  <a:schemeClr val="hlink"/>
                </a:solidFill>
                <a:latin typeface="Inter Medium"/>
                <a:ea typeface="Inter Medium"/>
                <a:cs typeface="Inter Medium"/>
                <a:sym typeface="Inter Medium"/>
                <a:hlinkClick r:id="rId5"/>
              </a:rPr>
              <a:t>Телеграм</a:t>
            </a:r>
            <a:endParaRPr sz="7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272" name="Google Shape;272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302800" y="9535099"/>
            <a:ext cx="1528003" cy="2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2"/>
          <p:cNvSpPr/>
          <p:nvPr/>
        </p:nvSpPr>
        <p:spPr>
          <a:xfrm>
            <a:off x="17332200" y="457200"/>
            <a:ext cx="498600" cy="498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74" name="Google Shape;274;p32"/>
          <p:cNvSpPr txBox="1"/>
          <p:nvPr/>
        </p:nvSpPr>
        <p:spPr>
          <a:xfrm>
            <a:off x="17230800" y="449100"/>
            <a:ext cx="701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18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75" name="Google Shape;275;p32"/>
          <p:cNvPicPr preferRelativeResize="0"/>
          <p:nvPr/>
        </p:nvPicPr>
        <p:blipFill rotWithShape="1">
          <a:blip r:embed="rId7">
            <a:alphaModFix/>
          </a:blip>
          <a:srcRect b="0" l="11239" r="11247" t="0"/>
          <a:stretch/>
        </p:blipFill>
        <p:spPr>
          <a:xfrm>
            <a:off x="9144000" y="2559650"/>
            <a:ext cx="7077200" cy="516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2"/>
          <p:cNvPicPr preferRelativeResize="0"/>
          <p:nvPr/>
        </p:nvPicPr>
        <p:blipFill rotWithShape="1">
          <a:blip r:embed="rId8">
            <a:alphaModFix/>
          </a:blip>
          <a:srcRect b="-29694" l="-11684" r="-11696" t="-29694"/>
          <a:stretch/>
        </p:blipFill>
        <p:spPr>
          <a:xfrm rot="3600002">
            <a:off x="253199" y="7437327"/>
            <a:ext cx="2606451" cy="291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33"/>
          <p:cNvPicPr preferRelativeResize="0"/>
          <p:nvPr/>
        </p:nvPicPr>
        <p:blipFill rotWithShape="1">
          <a:blip r:embed="rId3">
            <a:alphaModFix/>
          </a:blip>
          <a:srcRect b="50" l="0" r="0" t="40"/>
          <a:stretch/>
        </p:blipFill>
        <p:spPr>
          <a:xfrm>
            <a:off x="13122250" y="3186175"/>
            <a:ext cx="3238749" cy="2803849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 txBox="1"/>
          <p:nvPr/>
        </p:nvSpPr>
        <p:spPr>
          <a:xfrm>
            <a:off x="13700125" y="7672700"/>
            <a:ext cx="4052400" cy="13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Cодержание настоящего документа является коммерческой тайной Got Added Value LLC</a:t>
            </a:r>
            <a:endParaRPr sz="12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83" name="Google Shape;28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7672700"/>
            <a:ext cx="1917527" cy="3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3"/>
          <p:cNvSpPr txBox="1"/>
          <p:nvPr/>
        </p:nvSpPr>
        <p:spPr>
          <a:xfrm>
            <a:off x="7064650" y="7587000"/>
            <a:ext cx="60576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EBEBEB"/>
                </a:solidFill>
                <a:latin typeface="Inter"/>
                <a:ea typeface="Inter"/>
                <a:cs typeface="Inter"/>
                <a:sym typeface="Inter"/>
              </a:rPr>
              <a:t>Программа курса</a:t>
            </a:r>
            <a:endParaRPr sz="2000">
              <a:solidFill>
                <a:srgbClr val="EBEB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5" name="Google Shape;285;p33"/>
          <p:cNvSpPr txBox="1"/>
          <p:nvPr/>
        </p:nvSpPr>
        <p:spPr>
          <a:xfrm>
            <a:off x="240150" y="0"/>
            <a:ext cx="8966400" cy="29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rgbClr val="EBEBEB"/>
                </a:solidFill>
                <a:latin typeface="Inter Medium"/>
                <a:ea typeface="Inter Medium"/>
                <a:cs typeface="Inter Medium"/>
                <a:sym typeface="Inter Medium"/>
              </a:rPr>
              <a:t>THNX</a:t>
            </a:r>
            <a:endParaRPr sz="7000">
              <a:solidFill>
                <a:srgbClr val="EBEBE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86" name="Google Shape;286;p33"/>
          <p:cNvSpPr txBox="1"/>
          <p:nvPr/>
        </p:nvSpPr>
        <p:spPr>
          <a:xfrm>
            <a:off x="240150" y="2882250"/>
            <a:ext cx="6492600" cy="12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Спасибо</a:t>
            </a:r>
            <a:endParaRPr sz="4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Дякую</a:t>
            </a:r>
            <a:endParaRPr sz="4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Рахмат</a:t>
            </a:r>
            <a:endParaRPr sz="4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Рахмет</a:t>
            </a:r>
            <a:endParaRPr sz="4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 sz="4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