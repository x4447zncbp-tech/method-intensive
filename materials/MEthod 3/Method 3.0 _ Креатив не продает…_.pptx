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10287000" cx="18288000"/>
  <p:notesSz cx="6858000" cy="9144000"/>
  <p:embeddedFontLst>
    <p:embeddedFont>
      <p:font typeface="Inter"/>
      <p:regular r:id="rId51"/>
      <p:bold r:id="rId52"/>
      <p:italic r:id="rId53"/>
      <p:boldItalic r:id="rId54"/>
    </p:embeddedFont>
    <p:embeddedFont>
      <p:font typeface="Helvetica Neue"/>
      <p:regular r:id="rId55"/>
      <p:bold r:id="rId56"/>
      <p:italic r:id="rId57"/>
      <p:boldItalic r:id="rId58"/>
    </p:embeddedFont>
    <p:embeddedFont>
      <p:font typeface="Inter Medium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  <p15:guide id="3" pos="288">
          <p15:clr>
            <a:srgbClr val="747775"/>
          </p15:clr>
        </p15:guide>
        <p15:guide id="4" orient="horz" pos="288">
          <p15:clr>
            <a:srgbClr val="747775"/>
          </p15:clr>
        </p15:guide>
        <p15:guide id="5" pos="11232">
          <p15:clr>
            <a:srgbClr val="747775"/>
          </p15:clr>
        </p15:guide>
        <p15:guide id="6" orient="horz" pos="619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  <p:guide pos="288"/>
        <p:guide pos="288" orient="horz"/>
        <p:guide pos="11232"/>
        <p:guide pos="619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InterMedium-boldItalic.fntdata"/><Relationship Id="rId61" Type="http://schemas.openxmlformats.org/officeDocument/2006/relationships/font" Target="fonts/InterMedium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InterMedium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Inter-regular.fntdata"/><Relationship Id="rId50" Type="http://schemas.openxmlformats.org/officeDocument/2006/relationships/slide" Target="slides/slide44.xml"/><Relationship Id="rId53" Type="http://schemas.openxmlformats.org/officeDocument/2006/relationships/font" Target="fonts/Inter-italic.fntdata"/><Relationship Id="rId52" Type="http://schemas.openxmlformats.org/officeDocument/2006/relationships/font" Target="fonts/Inter-bold.fntdata"/><Relationship Id="rId11" Type="http://schemas.openxmlformats.org/officeDocument/2006/relationships/slide" Target="slides/slide5.xml"/><Relationship Id="rId55" Type="http://schemas.openxmlformats.org/officeDocument/2006/relationships/font" Target="fonts/HelveticaNeue-regular.fntdata"/><Relationship Id="rId10" Type="http://schemas.openxmlformats.org/officeDocument/2006/relationships/slide" Target="slides/slide4.xml"/><Relationship Id="rId54" Type="http://schemas.openxmlformats.org/officeDocument/2006/relationships/font" Target="fonts/Inter-boldItalic.fntdata"/><Relationship Id="rId13" Type="http://schemas.openxmlformats.org/officeDocument/2006/relationships/slide" Target="slides/slide7.xml"/><Relationship Id="rId57" Type="http://schemas.openxmlformats.org/officeDocument/2006/relationships/font" Target="fonts/HelveticaNeue-italic.fntdata"/><Relationship Id="rId12" Type="http://schemas.openxmlformats.org/officeDocument/2006/relationships/slide" Target="slides/slide6.xml"/><Relationship Id="rId56" Type="http://schemas.openxmlformats.org/officeDocument/2006/relationships/font" Target="fonts/HelveticaNeue-bold.fntdata"/><Relationship Id="rId15" Type="http://schemas.openxmlformats.org/officeDocument/2006/relationships/slide" Target="slides/slide9.xml"/><Relationship Id="rId59" Type="http://schemas.openxmlformats.org/officeDocument/2006/relationships/font" Target="fonts/InterMedium-regular.fntdata"/><Relationship Id="rId14" Type="http://schemas.openxmlformats.org/officeDocument/2006/relationships/slide" Target="slides/slide8.xml"/><Relationship Id="rId58" Type="http://schemas.openxmlformats.org/officeDocument/2006/relationships/font" Target="fonts/HelveticaNeue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69571821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69571821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95718216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695718216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6957182169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6957182169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95718216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695718216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69579ff19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69579ff19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9579ff19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69579ff19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9579ff19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69579ff19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69579ff19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69579ff19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69579ff19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69579ff19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695c47f4db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695c47f4db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695c47f4db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695c47f4db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695c47f4db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695c47f4db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695c47f4db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695c47f4db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695c47f4db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695c47f4db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695c47f4db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695c47f4d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695c47f4db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695c47f4db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695c47f4db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695c47f4db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695c47f4db_1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695c47f4db_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695c47f4db_1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695c47f4db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695c47f4db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695c47f4db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695c47f4db_1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695c47f4db_1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695718216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695718216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69579ff19f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69579ff19f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6957182169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6957182169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6957182169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6957182169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69579ff19f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69579ff19f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69579ff19f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69579ff19f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695718216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695718216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69579ff19f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69579ff19f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69579ff19f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69579ff19f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69579ff19f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69579ff19f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8bcb381f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8bcb381f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69579ff19f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269579ff19f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8bcb381fe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8bcb381fe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69579ff19f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269579ff19f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69579ff19f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269579ff19f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695c47f4db_1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2695c47f4db_1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8bcb381fe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8bcb381fe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8bcb381fe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8bcb381fe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69579ff19f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69579ff19f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69579ff19f_1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269579ff19f_1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69579ff19f_1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269579ff19f_1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269579ff19f_1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269579ff19f_1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6957182169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26957182169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rtl="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rtl="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rtl="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rtl="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rtl="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rtl="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rtl="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rtl="0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rtl="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rtl="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rtl="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rtl="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rtl="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rtl="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rtl="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rtl="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rtl="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rtl="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rtl="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rtl="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rtl="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rtl="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rtl="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rtl="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rtl="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rtl="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rtl="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rtl="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rtl="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rtl="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rtl="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rtl="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rtl="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rtl="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rtl="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rtl="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rtl="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rtl="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rtl="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rtl="0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7200" lvl="0" marL="457200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rtl="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rtl="0" algn="ctr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rtl="0" algn="ctr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rtl="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rtl="0" algn="ctr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rtl="0" algn="ctr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rtl="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rtl="0" algn="ctr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/>
        </p:nvSpPr>
        <p:spPr>
          <a:xfrm>
            <a:off x="10962623" y="9624643"/>
            <a:ext cx="73386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" sz="1400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СОДЕРЖАНИЕ НАСТОЯЩЕГО ДОКУМЕНТА ЯВЛЯЕТСЯ КОММЕРЧЕСКОЙ ТАЙНОЙ ООО "БОРОДА ПРОДЖЕКТ"</a:t>
            </a:r>
            <a:endParaRPr b="1" baseline="-25000" sz="1400">
              <a:solidFill>
                <a:srgbClr val="CCCC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 rtl="0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 algn="r">
              <a:buNone/>
              <a:defRPr sz="2000">
                <a:solidFill>
                  <a:schemeClr val="dk2"/>
                </a:solidFill>
              </a:defRPr>
            </a:lvl1pPr>
            <a:lvl2pPr lvl="1" rtl="0" algn="r">
              <a:buNone/>
              <a:defRPr sz="2000">
                <a:solidFill>
                  <a:schemeClr val="dk2"/>
                </a:solidFill>
              </a:defRPr>
            </a:lvl2pPr>
            <a:lvl3pPr lvl="2" rtl="0" algn="r">
              <a:buNone/>
              <a:defRPr sz="2000">
                <a:solidFill>
                  <a:schemeClr val="dk2"/>
                </a:solidFill>
              </a:defRPr>
            </a:lvl3pPr>
            <a:lvl4pPr lvl="3" rtl="0" algn="r">
              <a:buNone/>
              <a:defRPr sz="2000">
                <a:solidFill>
                  <a:schemeClr val="dk2"/>
                </a:solidFill>
              </a:defRPr>
            </a:lvl4pPr>
            <a:lvl5pPr lvl="4" rtl="0" algn="r">
              <a:buNone/>
              <a:defRPr sz="2000">
                <a:solidFill>
                  <a:schemeClr val="dk2"/>
                </a:solidFill>
              </a:defRPr>
            </a:lvl5pPr>
            <a:lvl6pPr lvl="5" rtl="0" algn="r">
              <a:buNone/>
              <a:defRPr sz="2000">
                <a:solidFill>
                  <a:schemeClr val="dk2"/>
                </a:solidFill>
              </a:defRPr>
            </a:lvl6pPr>
            <a:lvl7pPr lvl="6" rtl="0" algn="r">
              <a:buNone/>
              <a:defRPr sz="2000">
                <a:solidFill>
                  <a:schemeClr val="dk2"/>
                </a:solidFill>
              </a:defRPr>
            </a:lvl7pPr>
            <a:lvl8pPr lvl="7" rtl="0" algn="r">
              <a:buNone/>
              <a:defRPr sz="2000">
                <a:solidFill>
                  <a:schemeClr val="dk2"/>
                </a:solidFill>
              </a:defRPr>
            </a:lvl8pPr>
            <a:lvl9pPr lvl="8" rtl="0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1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23.jpg"/><Relationship Id="rId5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19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png"/><Relationship Id="rId4" Type="http://schemas.openxmlformats.org/officeDocument/2006/relationships/image" Target="../media/image19.jpg"/><Relationship Id="rId5" Type="http://schemas.openxmlformats.org/officeDocument/2006/relationships/image" Target="../media/image12.jpg"/><Relationship Id="rId6" Type="http://schemas.openxmlformats.org/officeDocument/2006/relationships/image" Target="../media/image23.jpg"/><Relationship Id="rId7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20.jpg"/><Relationship Id="rId5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6"/>
          <p:cNvPicPr preferRelativeResize="0"/>
          <p:nvPr/>
        </p:nvPicPr>
        <p:blipFill rotWithShape="1">
          <a:blip r:embed="rId3">
            <a:alphaModFix/>
          </a:blip>
          <a:srcRect b="50" l="0" r="0" t="40"/>
          <a:stretch/>
        </p:blipFill>
        <p:spPr>
          <a:xfrm>
            <a:off x="3731700" y="513075"/>
            <a:ext cx="14190423" cy="1228495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6"/>
          <p:cNvSpPr txBox="1"/>
          <p:nvPr/>
        </p:nvSpPr>
        <p:spPr>
          <a:xfrm>
            <a:off x="13700125" y="7672700"/>
            <a:ext cx="4052400" cy="13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Cодержание настоящего </a:t>
            </a:r>
            <a:br>
              <a:rPr lang="en" sz="12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2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документа является коммерческой тайной </a:t>
            </a:r>
            <a:endParaRPr sz="12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LLC </a:t>
            </a:r>
            <a:r>
              <a:rPr lang="en" sz="12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Got Added Value </a:t>
            </a:r>
            <a:endParaRPr sz="12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3" name="Google Shape;10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180751"/>
            <a:ext cx="6962360" cy="13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6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22.03.2026</a:t>
            </a:r>
            <a:endParaRPr sz="20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26"/>
          <p:cNvSpPr txBox="1"/>
          <p:nvPr/>
        </p:nvSpPr>
        <p:spPr>
          <a:xfrm>
            <a:off x="70646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Креатив не продает?</a:t>
            </a:r>
            <a:endParaRPr sz="20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25800"/>
            <a:ext cx="18288000" cy="1040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7"/>
          <p:cNvSpPr txBox="1"/>
          <p:nvPr/>
        </p:nvSpPr>
        <p:spPr>
          <a:xfrm>
            <a:off x="240150" y="0"/>
            <a:ext cx="16743300" cy="3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Креатив </a:t>
            </a:r>
            <a:endParaRPr sz="92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не продает?</a:t>
            </a:r>
            <a:endParaRPr sz="92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2" name="Google Shape;1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14" name="Google Shape;114;p27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5" name="Google Shape;115;p27"/>
          <p:cNvPicPr preferRelativeResize="0"/>
          <p:nvPr/>
        </p:nvPicPr>
        <p:blipFill rotWithShape="1">
          <a:blip r:embed="rId5">
            <a:alphaModFix/>
          </a:blip>
          <a:srcRect b="50" l="0" r="0" t="40"/>
          <a:stretch/>
        </p:blipFill>
        <p:spPr>
          <a:xfrm rot="5400000">
            <a:off x="182792" y="4530959"/>
            <a:ext cx="5978049" cy="5175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/>
        </p:nvSpPr>
        <p:spPr>
          <a:xfrm>
            <a:off x="240150" y="0"/>
            <a:ext cx="1693140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Креатив 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не продает? 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21" name="Google Shape;12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8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3" name="Google Shape;123;p28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" name="Google Shape;124;p28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 txBox="1"/>
          <p:nvPr/>
        </p:nvSpPr>
        <p:spPr>
          <a:xfrm>
            <a:off x="240150" y="0"/>
            <a:ext cx="15482700" cy="3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Что такое 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креативное решение?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30" name="Google Shape;13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9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32" name="Google Shape;132;p29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29"/>
          <p:cNvSpPr txBox="1"/>
          <p:nvPr/>
        </p:nvSpPr>
        <p:spPr>
          <a:xfrm>
            <a:off x="240150" y="4271025"/>
            <a:ext cx="102459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4" name="Google Shape;134;p29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1128404">
            <a:off x="240150" y="7437326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/>
        </p:nvSpPr>
        <p:spPr>
          <a:xfrm>
            <a:off x="240150" y="0"/>
            <a:ext cx="15482700" cy="3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Что такое 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креативное решение?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40" name="Google Shape;1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0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42" name="Google Shape;142;p30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30"/>
          <p:cNvSpPr txBox="1"/>
          <p:nvPr/>
        </p:nvSpPr>
        <p:spPr>
          <a:xfrm>
            <a:off x="240150" y="4271025"/>
            <a:ext cx="102459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креатив или креативное решение — это когда вы решаете задачу так,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как ее еще никто не решал.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4" name="Google Shape;144;p30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2227615">
            <a:off x="240150" y="7437326"/>
            <a:ext cx="2606449" cy="29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/>
        </p:nvSpPr>
        <p:spPr>
          <a:xfrm>
            <a:off x="240150" y="0"/>
            <a:ext cx="15482700" cy="3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Зачем 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это нужно? 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50" name="Google Shape;15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1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52" name="Google Shape;152;p31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31"/>
          <p:cNvSpPr txBox="1"/>
          <p:nvPr/>
        </p:nvSpPr>
        <p:spPr>
          <a:xfrm>
            <a:off x="240150" y="4271025"/>
            <a:ext cx="102459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4" name="Google Shape;154;p31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3417672">
            <a:off x="240151" y="7437325"/>
            <a:ext cx="2606447" cy="2914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2"/>
          <p:cNvSpPr txBox="1"/>
          <p:nvPr/>
        </p:nvSpPr>
        <p:spPr>
          <a:xfrm>
            <a:off x="240150" y="0"/>
            <a:ext cx="15482700" cy="3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А что такое 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стратегия?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60" name="Google Shape;16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2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62" name="Google Shape;162;p32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Google Shape;163;p32"/>
          <p:cNvSpPr txBox="1"/>
          <p:nvPr/>
        </p:nvSpPr>
        <p:spPr>
          <a:xfrm>
            <a:off x="240150" y="4271025"/>
            <a:ext cx="102459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4" name="Google Shape;164;p32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4663994">
            <a:off x="240151" y="7437327"/>
            <a:ext cx="2606447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/>
        </p:nvSpPr>
        <p:spPr>
          <a:xfrm>
            <a:off x="240150" y="0"/>
            <a:ext cx="15482700" cy="3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А что такое 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стратегия?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70" name="Google Shape;17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3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72" name="Google Shape;172;p33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33"/>
          <p:cNvSpPr txBox="1"/>
          <p:nvPr/>
        </p:nvSpPr>
        <p:spPr>
          <a:xfrm>
            <a:off x="240150" y="4271025"/>
            <a:ext cx="102459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" name="Google Shape;174;p33"/>
          <p:cNvSpPr txBox="1"/>
          <p:nvPr/>
        </p:nvSpPr>
        <p:spPr>
          <a:xfrm>
            <a:off x="240150" y="4271025"/>
            <a:ext cx="102459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определяет кому, когда, где, что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 как сказать...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5" name="Google Shape;175;p33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6028673">
            <a:off x="240152" y="7437326"/>
            <a:ext cx="2606445" cy="2914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/>
        </p:nvSpPr>
        <p:spPr>
          <a:xfrm>
            <a:off x="240150" y="0"/>
            <a:ext cx="15482700" cy="3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А зачем 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она нужна</a:t>
            </a: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?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81" name="Google Shape;18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4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83" name="Google Shape;183;p34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34"/>
          <p:cNvSpPr txBox="1"/>
          <p:nvPr/>
        </p:nvSpPr>
        <p:spPr>
          <a:xfrm>
            <a:off x="240150" y="4271025"/>
            <a:ext cx="102459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5" name="Google Shape;185;p34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5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92" name="Google Shape;192;p35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35"/>
          <p:cNvSpPr txBox="1"/>
          <p:nvPr/>
        </p:nvSpPr>
        <p:spPr>
          <a:xfrm>
            <a:off x="254475" y="3032825"/>
            <a:ext cx="27363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медиа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94" name="Google Shape;194;p35"/>
          <p:cNvCxnSpPr/>
          <p:nvPr/>
        </p:nvCxnSpPr>
        <p:spPr>
          <a:xfrm>
            <a:off x="4645650" y="449100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35"/>
          <p:cNvCxnSpPr/>
          <p:nvPr/>
        </p:nvCxnSpPr>
        <p:spPr>
          <a:xfrm>
            <a:off x="9214153" y="449100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35"/>
          <p:cNvSpPr txBox="1"/>
          <p:nvPr/>
        </p:nvSpPr>
        <p:spPr>
          <a:xfrm>
            <a:off x="482499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стратегия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35"/>
          <p:cNvSpPr txBox="1"/>
          <p:nvPr/>
        </p:nvSpPr>
        <p:spPr>
          <a:xfrm>
            <a:off x="939349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креатив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–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35"/>
          <p:cNvSpPr txBox="1"/>
          <p:nvPr/>
        </p:nvSpPr>
        <p:spPr>
          <a:xfrm>
            <a:off x="1397154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продажи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99" name="Google Shape;199;p35"/>
          <p:cNvCxnSpPr/>
          <p:nvPr/>
        </p:nvCxnSpPr>
        <p:spPr>
          <a:xfrm>
            <a:off x="13782650" y="465078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6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06" name="Google Shape;206;p36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36"/>
          <p:cNvSpPr txBox="1"/>
          <p:nvPr/>
        </p:nvSpPr>
        <p:spPr>
          <a:xfrm>
            <a:off x="254475" y="3032825"/>
            <a:ext cx="27363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медиа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08" name="Google Shape;208;p36"/>
          <p:cNvCxnSpPr/>
          <p:nvPr/>
        </p:nvCxnSpPr>
        <p:spPr>
          <a:xfrm>
            <a:off x="4645650" y="449100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36"/>
          <p:cNvCxnSpPr/>
          <p:nvPr/>
        </p:nvCxnSpPr>
        <p:spPr>
          <a:xfrm>
            <a:off x="9214153" y="449100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36"/>
          <p:cNvSpPr txBox="1"/>
          <p:nvPr/>
        </p:nvSpPr>
        <p:spPr>
          <a:xfrm>
            <a:off x="482499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стратегия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" name="Google Shape;211;p36"/>
          <p:cNvSpPr txBox="1"/>
          <p:nvPr/>
        </p:nvSpPr>
        <p:spPr>
          <a:xfrm>
            <a:off x="939349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креатив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–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36"/>
          <p:cNvSpPr txBox="1"/>
          <p:nvPr/>
        </p:nvSpPr>
        <p:spPr>
          <a:xfrm>
            <a:off x="1397154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продажи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13" name="Google Shape;213;p36"/>
          <p:cNvCxnSpPr/>
          <p:nvPr/>
        </p:nvCxnSpPr>
        <p:spPr>
          <a:xfrm>
            <a:off x="13782650" y="465078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7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20" name="Google Shape;220;p37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37"/>
          <p:cNvSpPr txBox="1"/>
          <p:nvPr/>
        </p:nvSpPr>
        <p:spPr>
          <a:xfrm>
            <a:off x="254475" y="3032825"/>
            <a:ext cx="27363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медиа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22" name="Google Shape;222;p37"/>
          <p:cNvCxnSpPr/>
          <p:nvPr/>
        </p:nvCxnSpPr>
        <p:spPr>
          <a:xfrm>
            <a:off x="4645650" y="449100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37"/>
          <p:cNvCxnSpPr/>
          <p:nvPr/>
        </p:nvCxnSpPr>
        <p:spPr>
          <a:xfrm>
            <a:off x="9214153" y="449100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37"/>
          <p:cNvSpPr txBox="1"/>
          <p:nvPr/>
        </p:nvSpPr>
        <p:spPr>
          <a:xfrm>
            <a:off x="482499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стратегия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–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37"/>
          <p:cNvSpPr txBox="1"/>
          <p:nvPr/>
        </p:nvSpPr>
        <p:spPr>
          <a:xfrm>
            <a:off x="939349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креатив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–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37"/>
          <p:cNvSpPr txBox="1"/>
          <p:nvPr/>
        </p:nvSpPr>
        <p:spPr>
          <a:xfrm>
            <a:off x="1397154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продажи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27" name="Google Shape;227;p37"/>
          <p:cNvCxnSpPr/>
          <p:nvPr/>
        </p:nvCxnSpPr>
        <p:spPr>
          <a:xfrm>
            <a:off x="13782650" y="465078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8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34" name="Google Shape;234;p38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38"/>
          <p:cNvSpPr txBox="1"/>
          <p:nvPr/>
        </p:nvSpPr>
        <p:spPr>
          <a:xfrm>
            <a:off x="254475" y="3032825"/>
            <a:ext cx="27363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медиа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6" name="Google Shape;236;p38"/>
          <p:cNvCxnSpPr/>
          <p:nvPr/>
        </p:nvCxnSpPr>
        <p:spPr>
          <a:xfrm>
            <a:off x="4645650" y="449100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38"/>
          <p:cNvCxnSpPr/>
          <p:nvPr/>
        </p:nvCxnSpPr>
        <p:spPr>
          <a:xfrm>
            <a:off x="9214153" y="449100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38"/>
          <p:cNvSpPr txBox="1"/>
          <p:nvPr/>
        </p:nvSpPr>
        <p:spPr>
          <a:xfrm>
            <a:off x="482499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стратегия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–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38"/>
          <p:cNvSpPr txBox="1"/>
          <p:nvPr/>
        </p:nvSpPr>
        <p:spPr>
          <a:xfrm>
            <a:off x="939349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креатив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–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38"/>
          <p:cNvSpPr txBox="1"/>
          <p:nvPr/>
        </p:nvSpPr>
        <p:spPr>
          <a:xfrm>
            <a:off x="1397154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продажи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–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1" name="Google Shape;241;p38"/>
          <p:cNvCxnSpPr/>
          <p:nvPr/>
        </p:nvCxnSpPr>
        <p:spPr>
          <a:xfrm>
            <a:off x="13782650" y="465078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/>
        </p:nvSpPr>
        <p:spPr>
          <a:xfrm>
            <a:off x="254475" y="3032825"/>
            <a:ext cx="27363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медиа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–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" name="Google Shape;247;p39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48" name="Google Shape;248;p39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9" name="Google Shape;249;p39"/>
          <p:cNvCxnSpPr/>
          <p:nvPr/>
        </p:nvCxnSpPr>
        <p:spPr>
          <a:xfrm>
            <a:off x="4645650" y="449100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0" name="Google Shape;25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9"/>
          <p:cNvCxnSpPr/>
          <p:nvPr/>
        </p:nvCxnSpPr>
        <p:spPr>
          <a:xfrm>
            <a:off x="9214153" y="449100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39"/>
          <p:cNvSpPr txBox="1"/>
          <p:nvPr/>
        </p:nvSpPr>
        <p:spPr>
          <a:xfrm>
            <a:off x="482499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стратегия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–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3" name="Google Shape;253;p39"/>
          <p:cNvSpPr txBox="1"/>
          <p:nvPr/>
        </p:nvSpPr>
        <p:spPr>
          <a:xfrm>
            <a:off x="939349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креатив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–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4" name="Google Shape;254;p39"/>
          <p:cNvSpPr txBox="1"/>
          <p:nvPr/>
        </p:nvSpPr>
        <p:spPr>
          <a:xfrm>
            <a:off x="1397154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продажи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–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55" name="Google Shape;255;p39"/>
          <p:cNvCxnSpPr/>
          <p:nvPr/>
        </p:nvCxnSpPr>
        <p:spPr>
          <a:xfrm>
            <a:off x="13782650" y="465078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0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62" name="Google Shape;262;p40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3" name="Google Shape;263;p40"/>
          <p:cNvSpPr txBox="1"/>
          <p:nvPr/>
        </p:nvSpPr>
        <p:spPr>
          <a:xfrm>
            <a:off x="254475" y="3032825"/>
            <a:ext cx="27363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медиа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–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64" name="Google Shape;264;p40"/>
          <p:cNvCxnSpPr/>
          <p:nvPr/>
        </p:nvCxnSpPr>
        <p:spPr>
          <a:xfrm>
            <a:off x="4645650" y="449100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40"/>
          <p:cNvCxnSpPr/>
          <p:nvPr/>
        </p:nvCxnSpPr>
        <p:spPr>
          <a:xfrm>
            <a:off x="9214153" y="449100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40"/>
          <p:cNvSpPr txBox="1"/>
          <p:nvPr/>
        </p:nvSpPr>
        <p:spPr>
          <a:xfrm>
            <a:off x="482499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стратегия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–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Google Shape;267;p40"/>
          <p:cNvSpPr txBox="1"/>
          <p:nvPr/>
        </p:nvSpPr>
        <p:spPr>
          <a:xfrm>
            <a:off x="939349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креатив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–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Google Shape;268;p40"/>
          <p:cNvSpPr txBox="1"/>
          <p:nvPr/>
        </p:nvSpPr>
        <p:spPr>
          <a:xfrm>
            <a:off x="13971546" y="3032826"/>
            <a:ext cx="4926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продажи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–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4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69" name="Google Shape;269;p40"/>
          <p:cNvCxnSpPr/>
          <p:nvPr/>
        </p:nvCxnSpPr>
        <p:spPr>
          <a:xfrm>
            <a:off x="13782650" y="465078"/>
            <a:ext cx="0" cy="92955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/>
          <p:nvPr/>
        </p:nvSpPr>
        <p:spPr>
          <a:xfrm>
            <a:off x="8980950" y="0"/>
            <a:ext cx="93072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1"/>
          <p:cNvSpPr txBox="1"/>
          <p:nvPr/>
        </p:nvSpPr>
        <p:spPr>
          <a:xfrm>
            <a:off x="240150" y="0"/>
            <a:ext cx="15482700" cy="3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Что делает </a:t>
            </a:r>
            <a:b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стратегия?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76" name="Google Shape;27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1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78" name="Google Shape;278;p41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41"/>
          <p:cNvSpPr txBox="1"/>
          <p:nvPr/>
        </p:nvSpPr>
        <p:spPr>
          <a:xfrm>
            <a:off x="240150" y="4271025"/>
            <a:ext cx="102459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0" name="Google Shape;280;p41"/>
          <p:cNvPicPr preferRelativeResize="0"/>
          <p:nvPr/>
        </p:nvPicPr>
        <p:blipFill rotWithShape="1">
          <a:blip r:embed="rId4">
            <a:alphaModFix/>
          </a:blip>
          <a:srcRect b="0" l="25992" r="0" t="0"/>
          <a:stretch/>
        </p:blipFill>
        <p:spPr>
          <a:xfrm>
            <a:off x="13133000" y="3800600"/>
            <a:ext cx="1556100" cy="210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1"/>
          <p:cNvPicPr preferRelativeResize="0"/>
          <p:nvPr/>
        </p:nvPicPr>
        <p:blipFill rotWithShape="1">
          <a:blip r:embed="rId5">
            <a:alphaModFix/>
          </a:blip>
          <a:srcRect b="-29694" l="-11684" r="-11696" t="-29694"/>
          <a:stretch/>
        </p:blipFill>
        <p:spPr>
          <a:xfrm>
            <a:off x="240150" y="6985075"/>
            <a:ext cx="3010846" cy="33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/>
          <p:nvPr/>
        </p:nvSpPr>
        <p:spPr>
          <a:xfrm>
            <a:off x="8980950" y="0"/>
            <a:ext cx="93072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2"/>
          <p:cNvSpPr txBox="1"/>
          <p:nvPr/>
        </p:nvSpPr>
        <p:spPr>
          <a:xfrm>
            <a:off x="240150" y="0"/>
            <a:ext cx="15482700" cy="3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Что делает </a:t>
            </a:r>
            <a:b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креатив?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88" name="Google Shape;28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2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90" name="Google Shape;290;p42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Google Shape;291;p42"/>
          <p:cNvSpPr txBox="1"/>
          <p:nvPr/>
        </p:nvSpPr>
        <p:spPr>
          <a:xfrm>
            <a:off x="240150" y="4271025"/>
            <a:ext cx="102459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2" name="Google Shape;292;p42"/>
          <p:cNvPicPr preferRelativeResize="0"/>
          <p:nvPr/>
        </p:nvPicPr>
        <p:blipFill rotWithShape="1">
          <a:blip r:embed="rId4">
            <a:alphaModFix/>
          </a:blip>
          <a:srcRect b="0" l="25992" r="0" t="0"/>
          <a:stretch/>
        </p:blipFill>
        <p:spPr>
          <a:xfrm>
            <a:off x="12557000" y="2530800"/>
            <a:ext cx="3435600" cy="464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2"/>
          <p:cNvPicPr preferRelativeResize="0"/>
          <p:nvPr/>
        </p:nvPicPr>
        <p:blipFill rotWithShape="1">
          <a:blip r:embed="rId5">
            <a:alphaModFix/>
          </a:blip>
          <a:srcRect b="-29694" l="-11684" r="-11696" t="-29694"/>
          <a:stretch/>
        </p:blipFill>
        <p:spPr>
          <a:xfrm>
            <a:off x="240150" y="6985075"/>
            <a:ext cx="3010846" cy="33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/>
          <p:nvPr/>
        </p:nvSpPr>
        <p:spPr>
          <a:xfrm>
            <a:off x="8980950" y="0"/>
            <a:ext cx="9307200" cy="1028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99;p43"/>
          <p:cNvPicPr preferRelativeResize="0"/>
          <p:nvPr/>
        </p:nvPicPr>
        <p:blipFill rotWithShape="1">
          <a:blip r:embed="rId3">
            <a:alphaModFix/>
          </a:blip>
          <a:srcRect b="-29694" l="-11684" r="-11696" t="-29694"/>
          <a:stretch/>
        </p:blipFill>
        <p:spPr>
          <a:xfrm>
            <a:off x="240150" y="6985075"/>
            <a:ext cx="3010846" cy="33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3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01" name="Google Shape;301;p43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2" name="Google Shape;30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3"/>
          <p:cNvSpPr txBox="1"/>
          <p:nvPr/>
        </p:nvSpPr>
        <p:spPr>
          <a:xfrm>
            <a:off x="240150" y="3492538"/>
            <a:ext cx="73611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продажи — это задача стратегии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Google Shape;304;p43"/>
          <p:cNvSpPr txBox="1"/>
          <p:nvPr/>
        </p:nvSpPr>
        <p:spPr>
          <a:xfrm>
            <a:off x="9421800" y="3492538"/>
            <a:ext cx="73611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креатив — это ваше </a:t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бесплатное медиа</a:t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5">
            <a:alphaModFix/>
          </a:blip>
          <a:srcRect b="50" l="0" r="0" t="40"/>
          <a:stretch/>
        </p:blipFill>
        <p:spPr>
          <a:xfrm flipH="1">
            <a:off x="9640187" y="7601955"/>
            <a:ext cx="2451488" cy="212230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/>
        </p:nvSpPr>
        <p:spPr>
          <a:xfrm>
            <a:off x="240150" y="275950"/>
            <a:ext cx="73611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°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Google Shape;307;p43"/>
          <p:cNvSpPr txBox="1"/>
          <p:nvPr/>
        </p:nvSpPr>
        <p:spPr>
          <a:xfrm>
            <a:off x="9421800" y="275950"/>
            <a:ext cx="73611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°</a:t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4"/>
          <p:cNvSpPr/>
          <p:nvPr/>
        </p:nvSpPr>
        <p:spPr>
          <a:xfrm>
            <a:off x="8980950" y="0"/>
            <a:ext cx="9307200" cy="1028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44"/>
          <p:cNvPicPr preferRelativeResize="0"/>
          <p:nvPr/>
        </p:nvPicPr>
        <p:blipFill rotWithShape="1">
          <a:blip r:embed="rId3">
            <a:alphaModFix/>
          </a:blip>
          <a:srcRect b="-29694" l="-11684" r="-11696" t="-29694"/>
          <a:stretch/>
        </p:blipFill>
        <p:spPr>
          <a:xfrm rot="1900694">
            <a:off x="240153" y="6985074"/>
            <a:ext cx="3010847" cy="336699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4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15" name="Google Shape;315;p44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6" name="Google Shape;31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4"/>
          <p:cNvSpPr txBox="1"/>
          <p:nvPr/>
        </p:nvSpPr>
        <p:spPr>
          <a:xfrm>
            <a:off x="240150" y="3492538"/>
            <a:ext cx="73611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стратег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Google Shape;318;p44"/>
          <p:cNvSpPr txBox="1"/>
          <p:nvPr/>
        </p:nvSpPr>
        <p:spPr>
          <a:xfrm>
            <a:off x="9421800" y="3492538"/>
            <a:ext cx="73611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креатор</a:t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9" name="Google Shape;319;p44"/>
          <p:cNvPicPr preferRelativeResize="0"/>
          <p:nvPr/>
        </p:nvPicPr>
        <p:blipFill rotWithShape="1">
          <a:blip r:embed="rId5">
            <a:alphaModFix/>
          </a:blip>
          <a:srcRect b="50" l="0" r="0" t="40"/>
          <a:stretch/>
        </p:blipFill>
        <p:spPr>
          <a:xfrm flipH="1" rot="1824244">
            <a:off x="9640183" y="7601954"/>
            <a:ext cx="2451492" cy="212230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4"/>
          <p:cNvSpPr txBox="1"/>
          <p:nvPr/>
        </p:nvSpPr>
        <p:spPr>
          <a:xfrm>
            <a:off x="240150" y="275950"/>
            <a:ext cx="73611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°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1" name="Google Shape;321;p44"/>
          <p:cNvSpPr txBox="1"/>
          <p:nvPr/>
        </p:nvSpPr>
        <p:spPr>
          <a:xfrm>
            <a:off x="9421800" y="275950"/>
            <a:ext cx="73611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°</a:t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/>
          <p:nvPr/>
        </p:nvSpPr>
        <p:spPr>
          <a:xfrm>
            <a:off x="8980950" y="0"/>
            <a:ext cx="9307200" cy="1028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7" name="Google Shape;327;p45"/>
          <p:cNvPicPr preferRelativeResize="0"/>
          <p:nvPr/>
        </p:nvPicPr>
        <p:blipFill rotWithShape="1">
          <a:blip r:embed="rId3">
            <a:alphaModFix/>
          </a:blip>
          <a:srcRect b="-29694" l="-11684" r="-11696" t="-29694"/>
          <a:stretch/>
        </p:blipFill>
        <p:spPr>
          <a:xfrm rot="3657343">
            <a:off x="240152" y="6985074"/>
            <a:ext cx="3010845" cy="336699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5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29" name="Google Shape;329;p45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30" name="Google Shape;330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5"/>
          <p:cNvSpPr txBox="1"/>
          <p:nvPr/>
        </p:nvSpPr>
        <p:spPr>
          <a:xfrm>
            <a:off x="240150" y="3492538"/>
            <a:ext cx="73611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стратег - задает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множество </a:t>
            </a:r>
            <a:r>
              <a:rPr lang="en" sz="4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вопросов.</a:t>
            </a:r>
            <a:endParaRPr sz="40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2" name="Google Shape;332;p45"/>
          <p:cNvSpPr txBox="1"/>
          <p:nvPr/>
        </p:nvSpPr>
        <p:spPr>
          <a:xfrm>
            <a:off x="9421800" y="3492538"/>
            <a:ext cx="73611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креатор - предлагает множество </a:t>
            </a:r>
            <a:r>
              <a:rPr lang="en" sz="40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решений.</a:t>
            </a:r>
            <a:endParaRPr sz="40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33" name="Google Shape;333;p45"/>
          <p:cNvPicPr preferRelativeResize="0"/>
          <p:nvPr/>
        </p:nvPicPr>
        <p:blipFill rotWithShape="1">
          <a:blip r:embed="rId5">
            <a:alphaModFix/>
          </a:blip>
          <a:srcRect b="50" l="0" r="0" t="40"/>
          <a:stretch/>
        </p:blipFill>
        <p:spPr>
          <a:xfrm flipH="1" rot="3640119">
            <a:off x="9640187" y="7601955"/>
            <a:ext cx="2451491" cy="212230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5"/>
          <p:cNvSpPr txBox="1"/>
          <p:nvPr/>
        </p:nvSpPr>
        <p:spPr>
          <a:xfrm>
            <a:off x="240150" y="275950"/>
            <a:ext cx="73611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°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5" name="Google Shape;335;p45"/>
          <p:cNvSpPr txBox="1"/>
          <p:nvPr/>
        </p:nvSpPr>
        <p:spPr>
          <a:xfrm>
            <a:off x="9421800" y="275950"/>
            <a:ext cx="73611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°</a:t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46"/>
          <p:cNvPicPr preferRelativeResize="0"/>
          <p:nvPr/>
        </p:nvPicPr>
        <p:blipFill rotWithShape="1">
          <a:blip r:embed="rId3">
            <a:alphaModFix/>
          </a:blip>
          <a:srcRect b="21077" l="0" r="0" t="5149"/>
          <a:stretch/>
        </p:blipFill>
        <p:spPr>
          <a:xfrm>
            <a:off x="8980950" y="0"/>
            <a:ext cx="9307024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6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42" name="Google Shape;342;p46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p46"/>
          <p:cNvSpPr txBox="1"/>
          <p:nvPr/>
        </p:nvSpPr>
        <p:spPr>
          <a:xfrm>
            <a:off x="240150" y="4271025"/>
            <a:ext cx="39117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46"/>
          <p:cNvSpPr txBox="1"/>
          <p:nvPr/>
        </p:nvSpPr>
        <p:spPr>
          <a:xfrm>
            <a:off x="240150" y="0"/>
            <a:ext cx="39117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решения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вопросы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45" name="Google Shape;345;p46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3657343">
            <a:off x="240152" y="6985074"/>
            <a:ext cx="3010845" cy="33669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6" name="Google Shape;346;p46"/>
          <p:cNvCxnSpPr/>
          <p:nvPr/>
        </p:nvCxnSpPr>
        <p:spPr>
          <a:xfrm rot="10800000">
            <a:off x="3391400" y="540750"/>
            <a:ext cx="630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347" name="Google Shape;347;p46"/>
          <p:cNvCxnSpPr/>
          <p:nvPr/>
        </p:nvCxnSpPr>
        <p:spPr>
          <a:xfrm rot="10800000">
            <a:off x="3391400" y="6165650"/>
            <a:ext cx="630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348" name="Google Shape;348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407811" y="899587"/>
            <a:ext cx="9706573" cy="841064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7"/>
          <p:cNvSpPr txBox="1"/>
          <p:nvPr/>
        </p:nvSpPr>
        <p:spPr>
          <a:xfrm>
            <a:off x="240150" y="2882250"/>
            <a:ext cx="7053600" cy="14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Поиграем </a:t>
            </a:r>
            <a:br>
              <a:rPr lang="en" sz="40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40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в стратегов</a:t>
            </a:r>
            <a:endParaRPr sz="40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5" name="Google Shape;355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7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57" name="Google Shape;357;p47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8"/>
          <p:cNvSpPr txBox="1"/>
          <p:nvPr/>
        </p:nvSpPr>
        <p:spPr>
          <a:xfrm>
            <a:off x="240150" y="0"/>
            <a:ext cx="130713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Маржинальность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63" name="Google Shape;36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8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65" name="Google Shape;365;p48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66" name="Google Shape;366;p48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-926650" y="7078162"/>
            <a:ext cx="4657653" cy="52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8"/>
          <p:cNvSpPr txBox="1"/>
          <p:nvPr/>
        </p:nvSpPr>
        <p:spPr>
          <a:xfrm>
            <a:off x="457203" y="7658870"/>
            <a:ext cx="2727600" cy="23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1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68" name="Google Shape;36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9850" y="4626000"/>
            <a:ext cx="7657249" cy="662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9"/>
          <p:cNvSpPr txBox="1"/>
          <p:nvPr/>
        </p:nvSpPr>
        <p:spPr>
          <a:xfrm>
            <a:off x="240150" y="0"/>
            <a:ext cx="136482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rgbClr val="B7B7B7"/>
                </a:solidFill>
                <a:latin typeface="Inter Medium"/>
                <a:ea typeface="Inter Medium"/>
                <a:cs typeface="Inter Medium"/>
                <a:sym typeface="Inter Medium"/>
              </a:rPr>
              <a:t>Маржинальность</a:t>
            </a:r>
            <a:endParaRPr sz="9200">
              <a:solidFill>
                <a:srgbClr val="B7B7B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Доля рынка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74" name="Google Shape;37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9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76" name="Google Shape;376;p49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49"/>
          <p:cNvSpPr txBox="1"/>
          <p:nvPr/>
        </p:nvSpPr>
        <p:spPr>
          <a:xfrm>
            <a:off x="457203" y="7658870"/>
            <a:ext cx="2727600" cy="23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2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78" name="Google Shape;378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0650" y="534350"/>
            <a:ext cx="7657249" cy="662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9850" y="4626000"/>
            <a:ext cx="7657249" cy="662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9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-926650" y="7078162"/>
            <a:ext cx="4657653" cy="52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9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-1011725" y="7225512"/>
            <a:ext cx="4657653" cy="520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0"/>
          <p:cNvSpPr txBox="1"/>
          <p:nvPr/>
        </p:nvSpPr>
        <p:spPr>
          <a:xfrm>
            <a:off x="240150" y="0"/>
            <a:ext cx="135885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>
                <a:solidFill>
                  <a:srgbClr val="B7B7B7"/>
                </a:solidFill>
                <a:latin typeface="Inter Medium"/>
                <a:ea typeface="Inter Medium"/>
                <a:cs typeface="Inter Medium"/>
                <a:sym typeface="Inter Medium"/>
              </a:rPr>
              <a:t>Маржинальность</a:t>
            </a:r>
            <a:endParaRPr sz="9200">
              <a:solidFill>
                <a:srgbClr val="B7B7B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rgbClr val="B7B7B7"/>
                </a:solidFill>
                <a:latin typeface="Inter Medium"/>
                <a:ea typeface="Inter Medium"/>
                <a:cs typeface="Inter Medium"/>
                <a:sym typeface="Inter Medium"/>
              </a:rPr>
              <a:t>Доля рынка</a:t>
            </a:r>
            <a:endParaRPr sz="9200">
              <a:solidFill>
                <a:srgbClr val="B7B7B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Частота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87" name="Google Shape;38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0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89" name="Google Shape;389;p50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90" name="Google Shape;390;p50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-926650" y="7078162"/>
            <a:ext cx="4657653" cy="52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50"/>
          <p:cNvSpPr txBox="1"/>
          <p:nvPr/>
        </p:nvSpPr>
        <p:spPr>
          <a:xfrm>
            <a:off x="457203" y="7658870"/>
            <a:ext cx="2727600" cy="23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92" name="Google Shape;39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0650" y="534350"/>
            <a:ext cx="7657249" cy="662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88425" y="4626000"/>
            <a:ext cx="7657249" cy="662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9850" y="4626000"/>
            <a:ext cx="7657249" cy="662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50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-1011725" y="7225512"/>
            <a:ext cx="4657653" cy="52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0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-1088200" y="7355387"/>
            <a:ext cx="4657653" cy="520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1"/>
          <p:cNvSpPr txBox="1"/>
          <p:nvPr/>
        </p:nvSpPr>
        <p:spPr>
          <a:xfrm>
            <a:off x="240150" y="0"/>
            <a:ext cx="12792600" cy="52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Маржинальность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Доля рынка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Частота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402" name="Google Shape;402;p51"/>
          <p:cNvPicPr preferRelativeResize="0"/>
          <p:nvPr/>
        </p:nvPicPr>
        <p:blipFill rotWithShape="1">
          <a:blip r:embed="rId3">
            <a:alphaModFix/>
          </a:blip>
          <a:srcRect b="-29694" l="-11684" r="-11696" t="-29694"/>
          <a:stretch/>
        </p:blipFill>
        <p:spPr>
          <a:xfrm>
            <a:off x="-926650" y="7078162"/>
            <a:ext cx="4657653" cy="52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1"/>
          <p:cNvPicPr preferRelativeResize="0"/>
          <p:nvPr/>
        </p:nvPicPr>
        <p:blipFill rotWithShape="1">
          <a:blip r:embed="rId3">
            <a:alphaModFix/>
          </a:blip>
          <a:srcRect b="-29694" l="-11684" r="-11696" t="-29694"/>
          <a:stretch/>
        </p:blipFill>
        <p:spPr>
          <a:xfrm>
            <a:off x="-1011725" y="7225512"/>
            <a:ext cx="4657653" cy="52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1"/>
          <p:cNvPicPr preferRelativeResize="0"/>
          <p:nvPr/>
        </p:nvPicPr>
        <p:blipFill rotWithShape="1">
          <a:blip r:embed="rId3">
            <a:alphaModFix/>
          </a:blip>
          <a:srcRect b="-29694" l="-11684" r="-11696" t="-29694"/>
          <a:stretch/>
        </p:blipFill>
        <p:spPr>
          <a:xfrm>
            <a:off x="-1088200" y="7355387"/>
            <a:ext cx="4657653" cy="52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1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407" name="Google Shape;407;p51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08" name="Google Shape;40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77775" y="570100"/>
            <a:ext cx="4950450" cy="7379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2"/>
          <p:cNvSpPr txBox="1"/>
          <p:nvPr/>
        </p:nvSpPr>
        <p:spPr>
          <a:xfrm>
            <a:off x="240150" y="0"/>
            <a:ext cx="127926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 strike="sngStrike">
                <a:solidFill>
                  <a:srgbClr val="B7B7B7"/>
                </a:solidFill>
                <a:latin typeface="Inter Medium"/>
                <a:ea typeface="Inter Medium"/>
                <a:cs typeface="Inter Medium"/>
                <a:sym typeface="Inter Medium"/>
              </a:rPr>
              <a:t>Маржинальность</a:t>
            </a:r>
            <a:endParaRPr sz="9200" strike="sngStrike">
              <a:solidFill>
                <a:srgbClr val="B7B7B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Доля рынка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Частота</a:t>
            </a:r>
            <a:endParaRPr sz="9200" strike="sngStrike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200" strike="sngStrike">
              <a:solidFill>
                <a:srgbClr val="B7B7B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00" strike="sngStrike">
              <a:solidFill>
                <a:srgbClr val="B7B7B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414" name="Google Shape;414;p52"/>
          <p:cNvPicPr preferRelativeResize="0"/>
          <p:nvPr/>
        </p:nvPicPr>
        <p:blipFill rotWithShape="1">
          <a:blip r:embed="rId3">
            <a:alphaModFix/>
          </a:blip>
          <a:srcRect b="-29694" l="-11684" r="-11696" t="-29694"/>
          <a:stretch/>
        </p:blipFill>
        <p:spPr>
          <a:xfrm>
            <a:off x="-926650" y="7078162"/>
            <a:ext cx="4657653" cy="52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52"/>
          <p:cNvPicPr preferRelativeResize="0"/>
          <p:nvPr/>
        </p:nvPicPr>
        <p:blipFill rotWithShape="1">
          <a:blip r:embed="rId3">
            <a:alphaModFix/>
          </a:blip>
          <a:srcRect b="-29694" l="-11684" r="-11696" t="-29694"/>
          <a:stretch/>
        </p:blipFill>
        <p:spPr>
          <a:xfrm>
            <a:off x="-1011725" y="7225512"/>
            <a:ext cx="4657653" cy="52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52"/>
          <p:cNvPicPr preferRelativeResize="0"/>
          <p:nvPr/>
        </p:nvPicPr>
        <p:blipFill rotWithShape="1">
          <a:blip r:embed="rId3">
            <a:alphaModFix/>
          </a:blip>
          <a:srcRect b="-29694" l="-11684" r="-11696" t="-29694"/>
          <a:stretch/>
        </p:blipFill>
        <p:spPr>
          <a:xfrm>
            <a:off x="-1088200" y="7355387"/>
            <a:ext cx="4657653" cy="52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2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419" name="Google Shape;419;p52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3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BEB"/>
              </a:solidFill>
            </a:endParaRPr>
          </a:p>
        </p:txBody>
      </p:sp>
      <p:sp>
        <p:nvSpPr>
          <p:cNvPr id="426" name="Google Shape;426;p53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27" name="Google Shape;42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3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Inter"/>
                <a:ea typeface="Inter"/>
                <a:cs typeface="Inter"/>
                <a:sym typeface="Inter"/>
              </a:rPr>
              <a:t>1965 год</a:t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Inter"/>
                <a:ea typeface="Inter"/>
                <a:cs typeface="Inter"/>
                <a:sym typeface="Inter"/>
              </a:rPr>
              <a:t>шампунь</a:t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Inter"/>
                <a:ea typeface="Inter"/>
                <a:cs typeface="Inter"/>
                <a:sym typeface="Inter"/>
              </a:rPr>
              <a:t>как увеличить продажи?</a:t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29" name="Google Shape;42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53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431" name="Google Shape;431;p53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4"/>
          <p:cNvSpPr txBox="1"/>
          <p:nvPr/>
        </p:nvSpPr>
        <p:spPr>
          <a:xfrm>
            <a:off x="240150" y="0"/>
            <a:ext cx="15482700" cy="3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Техника 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пять почему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437" name="Google Shape;43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4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439" name="Google Shape;439;p54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40" name="Google Shape;440;p54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54"/>
          <p:cNvSpPr txBox="1"/>
          <p:nvPr/>
        </p:nvSpPr>
        <p:spPr>
          <a:xfrm>
            <a:off x="240150" y="4271025"/>
            <a:ext cx="102459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2" name="Google Shape;442;p54"/>
          <p:cNvSpPr txBox="1"/>
          <p:nvPr/>
        </p:nvSpPr>
        <p:spPr>
          <a:xfrm>
            <a:off x="240150" y="4271025"/>
            <a:ext cx="121179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Техника формально изобретена Сакити Тоёда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 использовалась в Toyota в ходе эволюции их методологий производства.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5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449" name="Google Shape;449;p55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Google Shape;450;p55"/>
          <p:cNvSpPr txBox="1"/>
          <p:nvPr/>
        </p:nvSpPr>
        <p:spPr>
          <a:xfrm>
            <a:off x="240150" y="3472588"/>
            <a:ext cx="102459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Google Shape;451;p55"/>
          <p:cNvSpPr txBox="1"/>
          <p:nvPr/>
        </p:nvSpPr>
        <p:spPr>
          <a:xfrm>
            <a:off x="240150" y="257688"/>
            <a:ext cx="9870900" cy="6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Двигатель не заводится. </a:t>
            </a:r>
            <a:r>
              <a:rPr lang="en" sz="4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(проблема)</a:t>
            </a:r>
            <a:b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Почему?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Почему?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Почему? </a:t>
            </a:r>
            <a:endParaRPr sz="40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Почему? </a:t>
            </a:r>
            <a:endParaRPr sz="40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Почему? </a:t>
            </a:r>
            <a:endParaRPr sz="40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Google Shape;452;p55"/>
          <p:cNvSpPr txBox="1"/>
          <p:nvPr/>
        </p:nvSpPr>
        <p:spPr>
          <a:xfrm>
            <a:off x="3945350" y="2115138"/>
            <a:ext cx="9870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— Сел аккумулятор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Google Shape;453;p55"/>
          <p:cNvSpPr txBox="1"/>
          <p:nvPr/>
        </p:nvSpPr>
        <p:spPr>
          <a:xfrm>
            <a:off x="3945350" y="3337338"/>
            <a:ext cx="9870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— Не работает генератор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4" name="Google Shape;454;p55"/>
          <p:cNvSpPr txBox="1"/>
          <p:nvPr/>
        </p:nvSpPr>
        <p:spPr>
          <a:xfrm>
            <a:off x="3945350" y="4545763"/>
            <a:ext cx="9870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— Проблемы с ремнем генератора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5" name="Google Shape;455;p55"/>
          <p:cNvSpPr txBox="1"/>
          <p:nvPr/>
        </p:nvSpPr>
        <p:spPr>
          <a:xfrm>
            <a:off x="3945350" y="5793288"/>
            <a:ext cx="114867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— Ремень был в порядке до этого момента,  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но ни разу не менялся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6" name="Google Shape;456;p55"/>
          <p:cNvSpPr txBox="1"/>
          <p:nvPr/>
        </p:nvSpPr>
        <p:spPr>
          <a:xfrm>
            <a:off x="3945350" y="7632838"/>
            <a:ext cx="127080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— Автомобиль не проходил должного  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" sz="3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технического осмотра по рекомендуемому 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3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графику (пятый вопрос, первопричина)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7" name="Google Shape;457;p55"/>
          <p:cNvCxnSpPr/>
          <p:nvPr/>
        </p:nvCxnSpPr>
        <p:spPr>
          <a:xfrm rot="10800000">
            <a:off x="457275" y="3144675"/>
            <a:ext cx="1741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55"/>
          <p:cNvCxnSpPr/>
          <p:nvPr/>
        </p:nvCxnSpPr>
        <p:spPr>
          <a:xfrm rot="10800000">
            <a:off x="457275" y="4390738"/>
            <a:ext cx="1741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55"/>
          <p:cNvCxnSpPr/>
          <p:nvPr/>
        </p:nvCxnSpPr>
        <p:spPr>
          <a:xfrm rot="10800000">
            <a:off x="457275" y="5636800"/>
            <a:ext cx="1741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55"/>
          <p:cNvCxnSpPr/>
          <p:nvPr/>
        </p:nvCxnSpPr>
        <p:spPr>
          <a:xfrm rot="10800000">
            <a:off x="457275" y="7405375"/>
            <a:ext cx="1741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55"/>
          <p:cNvCxnSpPr/>
          <p:nvPr/>
        </p:nvCxnSpPr>
        <p:spPr>
          <a:xfrm rot="10800000">
            <a:off x="457275" y="1979900"/>
            <a:ext cx="1741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6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BEB"/>
              </a:solidFill>
            </a:endParaRPr>
          </a:p>
        </p:txBody>
      </p:sp>
      <p:sp>
        <p:nvSpPr>
          <p:cNvPr id="468" name="Google Shape;468;p56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69" name="Google Shape;469;p56"/>
          <p:cNvPicPr preferRelativeResize="0"/>
          <p:nvPr/>
        </p:nvPicPr>
        <p:blipFill rotWithShape="1">
          <a:blip r:embed="rId4">
            <a:alphaModFix/>
          </a:blip>
          <a:srcRect b="970" l="2453" r="2453" t="0"/>
          <a:stretch/>
        </p:blipFill>
        <p:spPr>
          <a:xfrm>
            <a:off x="275950" y="203825"/>
            <a:ext cx="17736101" cy="9879349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56"/>
          <p:cNvSpPr/>
          <p:nvPr/>
        </p:nvSpPr>
        <p:spPr>
          <a:xfrm>
            <a:off x="16302800" y="9608100"/>
            <a:ext cx="1743600" cy="29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56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Inter"/>
                <a:ea typeface="Inter"/>
                <a:cs typeface="Inter"/>
                <a:sym typeface="Inter"/>
              </a:rPr>
              <a:t>2000 год</a:t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Inter"/>
                <a:ea typeface="Inter"/>
                <a:cs typeface="Inter"/>
                <a:sym typeface="Inter"/>
              </a:rPr>
              <a:t>каталог мебели</a:t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Inter"/>
                <a:ea typeface="Inter"/>
                <a:cs typeface="Inter"/>
                <a:sym typeface="Inter"/>
              </a:rPr>
              <a:t>как увеличить количество звонков?</a:t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2" name="Google Shape;47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56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474" name="Google Shape;474;p56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7"/>
          <p:cNvSpPr txBox="1"/>
          <p:nvPr/>
        </p:nvSpPr>
        <p:spPr>
          <a:xfrm>
            <a:off x="240150" y="0"/>
            <a:ext cx="127926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 strike="sngStrike">
                <a:solidFill>
                  <a:srgbClr val="B7B7B7"/>
                </a:solidFill>
                <a:latin typeface="Inter Medium"/>
                <a:ea typeface="Inter Medium"/>
                <a:cs typeface="Inter Medium"/>
                <a:sym typeface="Inter Medium"/>
              </a:rPr>
              <a:t>Маржинальность</a:t>
            </a:r>
            <a:endParaRPr sz="9200" strike="sngStrike">
              <a:solidFill>
                <a:srgbClr val="B7B7B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Доля рынка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Частота</a:t>
            </a:r>
            <a:endParaRPr sz="9200" strike="sngStrike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200" strike="sngStrike">
              <a:solidFill>
                <a:srgbClr val="B7B7B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00" strike="sngStrike">
              <a:solidFill>
                <a:srgbClr val="B7B7B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480" name="Google Shape;480;p57"/>
          <p:cNvPicPr preferRelativeResize="0"/>
          <p:nvPr/>
        </p:nvPicPr>
        <p:blipFill rotWithShape="1">
          <a:blip r:embed="rId3">
            <a:alphaModFix/>
          </a:blip>
          <a:srcRect b="-29694" l="-11684" r="-11696" t="-29694"/>
          <a:stretch/>
        </p:blipFill>
        <p:spPr>
          <a:xfrm>
            <a:off x="-926650" y="7078162"/>
            <a:ext cx="4657653" cy="52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7"/>
          <p:cNvPicPr preferRelativeResize="0"/>
          <p:nvPr/>
        </p:nvPicPr>
        <p:blipFill rotWithShape="1">
          <a:blip r:embed="rId3">
            <a:alphaModFix/>
          </a:blip>
          <a:srcRect b="-29694" l="-11684" r="-11696" t="-29694"/>
          <a:stretch/>
        </p:blipFill>
        <p:spPr>
          <a:xfrm>
            <a:off x="-1011725" y="7225512"/>
            <a:ext cx="4657653" cy="52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7"/>
          <p:cNvPicPr preferRelativeResize="0"/>
          <p:nvPr/>
        </p:nvPicPr>
        <p:blipFill rotWithShape="1">
          <a:blip r:embed="rId3">
            <a:alphaModFix/>
          </a:blip>
          <a:srcRect b="-29694" l="-11684" r="-11696" t="-29694"/>
          <a:stretch/>
        </p:blipFill>
        <p:spPr>
          <a:xfrm>
            <a:off x="-1088200" y="7355387"/>
            <a:ext cx="4657653" cy="52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57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485" name="Google Shape;485;p57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58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BEB"/>
              </a:solidFill>
            </a:endParaRPr>
          </a:p>
        </p:txBody>
      </p:sp>
      <p:sp>
        <p:nvSpPr>
          <p:cNvPr id="492" name="Google Shape;492;p58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93" name="Google Shape;493;p58"/>
          <p:cNvPicPr preferRelativeResize="0"/>
          <p:nvPr/>
        </p:nvPicPr>
        <p:blipFill rotWithShape="1">
          <a:blip r:embed="rId4">
            <a:alphaModFix/>
          </a:blip>
          <a:srcRect b="7813" l="0" r="0" t="7813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8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Inter"/>
                <a:ea typeface="Inter"/>
                <a:cs typeface="Inter"/>
                <a:sym typeface="Inter"/>
              </a:rPr>
              <a:t>2005 год</a:t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Inter"/>
                <a:ea typeface="Inter"/>
                <a:cs typeface="Inter"/>
                <a:sym typeface="Inter"/>
              </a:rPr>
              <a:t>супермаркет</a:t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Inter"/>
                <a:ea typeface="Inter"/>
                <a:cs typeface="Inter"/>
                <a:sym typeface="Inter"/>
              </a:rPr>
              <a:t>как увеличить прибыль?</a:t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5" name="Google Shape;495;p58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496" name="Google Shape;496;p58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97" name="Google Shape;497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9"/>
          <p:cNvSpPr txBox="1"/>
          <p:nvPr/>
        </p:nvSpPr>
        <p:spPr>
          <a:xfrm>
            <a:off x="240150" y="0"/>
            <a:ext cx="127926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 strike="sngStrike">
                <a:solidFill>
                  <a:srgbClr val="B7B7B7"/>
                </a:solidFill>
                <a:latin typeface="Inter Medium"/>
                <a:ea typeface="Inter Medium"/>
                <a:cs typeface="Inter Medium"/>
                <a:sym typeface="Inter Medium"/>
              </a:rPr>
              <a:t>Маржинальность</a:t>
            </a:r>
            <a:endParaRPr sz="9200" strike="sngStrike">
              <a:solidFill>
                <a:srgbClr val="B7B7B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Доля рынка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Частота</a:t>
            </a:r>
            <a:endParaRPr sz="9200" strike="sngStrike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200" strike="sngStrike">
              <a:solidFill>
                <a:srgbClr val="B7B7B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00" strike="sngStrike">
              <a:solidFill>
                <a:srgbClr val="B7B7B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03" name="Google Shape;503;p59"/>
          <p:cNvPicPr preferRelativeResize="0"/>
          <p:nvPr/>
        </p:nvPicPr>
        <p:blipFill rotWithShape="1">
          <a:blip r:embed="rId3">
            <a:alphaModFix/>
          </a:blip>
          <a:srcRect b="-29694" l="-11684" r="-11696" t="-29694"/>
          <a:stretch/>
        </p:blipFill>
        <p:spPr>
          <a:xfrm>
            <a:off x="-926650" y="7078162"/>
            <a:ext cx="4657653" cy="52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59"/>
          <p:cNvPicPr preferRelativeResize="0"/>
          <p:nvPr/>
        </p:nvPicPr>
        <p:blipFill rotWithShape="1">
          <a:blip r:embed="rId3">
            <a:alphaModFix/>
          </a:blip>
          <a:srcRect b="-29694" l="-11684" r="-11696" t="-29694"/>
          <a:stretch/>
        </p:blipFill>
        <p:spPr>
          <a:xfrm>
            <a:off x="-1011725" y="7225512"/>
            <a:ext cx="4657653" cy="52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59"/>
          <p:cNvPicPr preferRelativeResize="0"/>
          <p:nvPr/>
        </p:nvPicPr>
        <p:blipFill rotWithShape="1">
          <a:blip r:embed="rId3">
            <a:alphaModFix/>
          </a:blip>
          <a:srcRect b="-29694" l="-11684" r="-11696" t="-29694"/>
          <a:stretch/>
        </p:blipFill>
        <p:spPr>
          <a:xfrm>
            <a:off x="-1088200" y="7355387"/>
            <a:ext cx="4657653" cy="52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59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508" name="Google Shape;508;p59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0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BEB"/>
              </a:solidFill>
            </a:endParaRPr>
          </a:p>
        </p:txBody>
      </p:sp>
      <p:sp>
        <p:nvSpPr>
          <p:cNvPr id="515" name="Google Shape;515;p60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16" name="Google Shape;516;p60"/>
          <p:cNvPicPr preferRelativeResize="0"/>
          <p:nvPr/>
        </p:nvPicPr>
        <p:blipFill rotWithShape="1">
          <a:blip r:embed="rId4">
            <a:alphaModFix/>
          </a:blip>
          <a:srcRect b="5413" l="0" r="0" t="5413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60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Inter"/>
                <a:ea typeface="Inter"/>
                <a:cs typeface="Inter"/>
                <a:sym typeface="Inter"/>
              </a:rPr>
              <a:t>2007 год</a:t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Inter"/>
                <a:ea typeface="Inter"/>
                <a:cs typeface="Inter"/>
                <a:sym typeface="Inter"/>
              </a:rPr>
              <a:t>мужские бритвы</a:t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Inter"/>
                <a:ea typeface="Inter"/>
                <a:cs typeface="Inter"/>
                <a:sym typeface="Inter"/>
              </a:rPr>
              <a:t>как увеличить продажи?</a:t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18" name="Google Shape;51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60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520" name="Google Shape;520;p60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6225" y="152400"/>
            <a:ext cx="8799376" cy="50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6225" y="5389250"/>
            <a:ext cx="8799375" cy="47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5" y="152400"/>
            <a:ext cx="9016026" cy="5071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5" y="5389250"/>
            <a:ext cx="9016025" cy="47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61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531" name="Google Shape;531;p61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2" name="Google Shape;532;p61"/>
          <p:cNvSpPr/>
          <p:nvPr/>
        </p:nvSpPr>
        <p:spPr>
          <a:xfrm>
            <a:off x="237375" y="249925"/>
            <a:ext cx="621600" cy="621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Inter Medium"/>
                <a:ea typeface="Inter Medium"/>
                <a:cs typeface="Inter Medium"/>
                <a:sym typeface="Inter Medium"/>
              </a:rPr>
              <a:t>1</a:t>
            </a:r>
            <a:endParaRPr sz="27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33" name="Google Shape;533;p61"/>
          <p:cNvSpPr/>
          <p:nvPr/>
        </p:nvSpPr>
        <p:spPr>
          <a:xfrm>
            <a:off x="9481725" y="249925"/>
            <a:ext cx="621600" cy="621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Inter Medium"/>
                <a:ea typeface="Inter Medium"/>
                <a:cs typeface="Inter Medium"/>
                <a:sym typeface="Inter Medium"/>
              </a:rPr>
              <a:t>2</a:t>
            </a:r>
            <a:endParaRPr sz="27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34" name="Google Shape;534;p61"/>
          <p:cNvSpPr/>
          <p:nvPr/>
        </p:nvSpPr>
        <p:spPr>
          <a:xfrm>
            <a:off x="237375" y="5530625"/>
            <a:ext cx="621600" cy="621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sz="27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35" name="Google Shape;535;p61"/>
          <p:cNvSpPr/>
          <p:nvPr/>
        </p:nvSpPr>
        <p:spPr>
          <a:xfrm>
            <a:off x="9481725" y="5530625"/>
            <a:ext cx="621600" cy="621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Inter Medium"/>
                <a:ea typeface="Inter Medium"/>
                <a:cs typeface="Inter Medium"/>
                <a:sym typeface="Inter Medium"/>
              </a:rPr>
              <a:t>4</a:t>
            </a:r>
            <a:endParaRPr sz="2700"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62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542" name="Google Shape;542;p62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43" name="Google Shape;543;p62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-926650" y="7078162"/>
            <a:ext cx="4657653" cy="52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62"/>
          <p:cNvSpPr txBox="1"/>
          <p:nvPr/>
        </p:nvSpPr>
        <p:spPr>
          <a:xfrm>
            <a:off x="457203" y="7658870"/>
            <a:ext cx="2727600" cy="23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45" name="Google Shape;545;p62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-1011725" y="7225512"/>
            <a:ext cx="4657653" cy="52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62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-1088200" y="7355387"/>
            <a:ext cx="4657653" cy="52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62"/>
          <p:cNvSpPr txBox="1"/>
          <p:nvPr/>
        </p:nvSpPr>
        <p:spPr>
          <a:xfrm>
            <a:off x="183850" y="4225200"/>
            <a:ext cx="5784000" cy="56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пройдите путь выбора товара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пройдите путь покупки товара</a:t>
            </a:r>
            <a:b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пройдите путь использования 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товара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8" name="Google Shape;548;p62"/>
          <p:cNvSpPr txBox="1"/>
          <p:nvPr/>
        </p:nvSpPr>
        <p:spPr>
          <a:xfrm>
            <a:off x="178275" y="85025"/>
            <a:ext cx="5880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зучите продукт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 конкурентов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49" name="Google Shape;549;p62"/>
          <p:cNvCxnSpPr/>
          <p:nvPr/>
        </p:nvCxnSpPr>
        <p:spPr>
          <a:xfrm>
            <a:off x="392975" y="3981325"/>
            <a:ext cx="5590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62"/>
          <p:cNvCxnSpPr/>
          <p:nvPr/>
        </p:nvCxnSpPr>
        <p:spPr>
          <a:xfrm>
            <a:off x="6764213" y="3981325"/>
            <a:ext cx="5105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62"/>
          <p:cNvCxnSpPr/>
          <p:nvPr/>
        </p:nvCxnSpPr>
        <p:spPr>
          <a:xfrm>
            <a:off x="12668650" y="3981325"/>
            <a:ext cx="5225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63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558" name="Google Shape;558;p63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9" name="Google Shape;559;p63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-926650" y="7078162"/>
            <a:ext cx="4657653" cy="52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63"/>
          <p:cNvSpPr txBox="1"/>
          <p:nvPr/>
        </p:nvSpPr>
        <p:spPr>
          <a:xfrm>
            <a:off x="457203" y="7658870"/>
            <a:ext cx="2727600" cy="23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61" name="Google Shape;561;p63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-1011725" y="7225512"/>
            <a:ext cx="4657653" cy="52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63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-1088200" y="7355387"/>
            <a:ext cx="4657653" cy="52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63"/>
          <p:cNvSpPr txBox="1"/>
          <p:nvPr/>
        </p:nvSpPr>
        <p:spPr>
          <a:xfrm>
            <a:off x="183850" y="4225200"/>
            <a:ext cx="5784000" cy="56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пройдите путь выбора товара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пройдите путь покупки товара</a:t>
            </a:r>
            <a:b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пройдите путь использования 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товара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Google Shape;564;p63"/>
          <p:cNvSpPr txBox="1"/>
          <p:nvPr/>
        </p:nvSpPr>
        <p:spPr>
          <a:xfrm>
            <a:off x="6521351" y="4225200"/>
            <a:ext cx="5444700" cy="56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глубинные интервью</a:t>
            </a:r>
            <a:b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тех кто покупает ваш товар</a:t>
            </a:r>
            <a:b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тех кто не покупает </a:t>
            </a:r>
            <a:b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ваш товар</a:t>
            </a:r>
            <a:b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наблюдение в магазинах</a:t>
            </a:r>
            <a:b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наблюдение дома у людей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5" name="Google Shape;565;p63"/>
          <p:cNvSpPr txBox="1"/>
          <p:nvPr/>
        </p:nvSpPr>
        <p:spPr>
          <a:xfrm>
            <a:off x="178275" y="85025"/>
            <a:ext cx="5880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Изучите продукт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 конкурентов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6" name="Google Shape;566;p63"/>
          <p:cNvSpPr txBox="1"/>
          <p:nvPr/>
        </p:nvSpPr>
        <p:spPr>
          <a:xfrm>
            <a:off x="6521278" y="85025"/>
            <a:ext cx="40443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Изучите аудиторию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67" name="Google Shape;567;p63"/>
          <p:cNvCxnSpPr/>
          <p:nvPr/>
        </p:nvCxnSpPr>
        <p:spPr>
          <a:xfrm>
            <a:off x="392975" y="3981325"/>
            <a:ext cx="5590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63"/>
          <p:cNvCxnSpPr/>
          <p:nvPr/>
        </p:nvCxnSpPr>
        <p:spPr>
          <a:xfrm>
            <a:off x="6764213" y="3981325"/>
            <a:ext cx="5105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63"/>
          <p:cNvCxnSpPr/>
          <p:nvPr/>
        </p:nvCxnSpPr>
        <p:spPr>
          <a:xfrm>
            <a:off x="12668650" y="3981325"/>
            <a:ext cx="5225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64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576" name="Google Shape;576;p64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77" name="Google Shape;577;p64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-926650" y="7078162"/>
            <a:ext cx="4657653" cy="52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64"/>
          <p:cNvSpPr txBox="1"/>
          <p:nvPr/>
        </p:nvSpPr>
        <p:spPr>
          <a:xfrm>
            <a:off x="457203" y="7658870"/>
            <a:ext cx="2727600" cy="23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79" name="Google Shape;579;p64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-1011725" y="7225512"/>
            <a:ext cx="4657653" cy="52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64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-1088200" y="7355387"/>
            <a:ext cx="4657653" cy="52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64"/>
          <p:cNvSpPr txBox="1"/>
          <p:nvPr/>
        </p:nvSpPr>
        <p:spPr>
          <a:xfrm>
            <a:off x="183850" y="4225200"/>
            <a:ext cx="5784000" cy="56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пройдите путь выбора товара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пройдите путь покупки товара</a:t>
            </a:r>
            <a:b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пройдите путь использования 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товара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2" name="Google Shape;582;p64"/>
          <p:cNvSpPr txBox="1"/>
          <p:nvPr/>
        </p:nvSpPr>
        <p:spPr>
          <a:xfrm>
            <a:off x="6521351" y="4225200"/>
            <a:ext cx="5444700" cy="56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глубинные интервью</a:t>
            </a:r>
            <a:b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тех кто покупает ваш товар</a:t>
            </a:r>
            <a:b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тех кто не покупает </a:t>
            </a:r>
            <a:b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ваш товар</a:t>
            </a:r>
            <a:b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наблюдение в магазинах</a:t>
            </a:r>
            <a:b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наблюдение дома у людей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3" name="Google Shape;583;p64"/>
          <p:cNvSpPr txBox="1"/>
          <p:nvPr/>
        </p:nvSpPr>
        <p:spPr>
          <a:xfrm>
            <a:off x="12504175" y="4225200"/>
            <a:ext cx="5593200" cy="56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3810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камеди, стендап и тп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мемы и паблики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популярные шоу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AutoNum type="arabicPeriod"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тренды соц. сетей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4" name="Google Shape;584;p64"/>
          <p:cNvSpPr txBox="1"/>
          <p:nvPr/>
        </p:nvSpPr>
        <p:spPr>
          <a:xfrm>
            <a:off x="178275" y="85025"/>
            <a:ext cx="58800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Изучите продукт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 конкурентов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5" name="Google Shape;585;p64"/>
          <p:cNvSpPr txBox="1"/>
          <p:nvPr/>
        </p:nvSpPr>
        <p:spPr>
          <a:xfrm>
            <a:off x="6521278" y="85025"/>
            <a:ext cx="40443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Изучите аудиторию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Google Shape;586;p64"/>
          <p:cNvSpPr txBox="1"/>
          <p:nvPr/>
        </p:nvSpPr>
        <p:spPr>
          <a:xfrm>
            <a:off x="12504182" y="85025"/>
            <a:ext cx="5140200" cy="2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Изучайте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культуру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87" name="Google Shape;587;p64"/>
          <p:cNvCxnSpPr/>
          <p:nvPr/>
        </p:nvCxnSpPr>
        <p:spPr>
          <a:xfrm>
            <a:off x="392975" y="3981325"/>
            <a:ext cx="5590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64"/>
          <p:cNvCxnSpPr/>
          <p:nvPr/>
        </p:nvCxnSpPr>
        <p:spPr>
          <a:xfrm>
            <a:off x="6764213" y="3981325"/>
            <a:ext cx="5105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64"/>
          <p:cNvCxnSpPr/>
          <p:nvPr/>
        </p:nvCxnSpPr>
        <p:spPr>
          <a:xfrm>
            <a:off x="12668650" y="3981325"/>
            <a:ext cx="5225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Google Shape;59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65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BEB"/>
              </a:solidFill>
            </a:endParaRPr>
          </a:p>
        </p:txBody>
      </p:sp>
      <p:sp>
        <p:nvSpPr>
          <p:cNvPr id="596" name="Google Shape;596;p65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7" name="Google Shape;59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65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Inter"/>
                <a:ea typeface="Inter"/>
                <a:cs typeface="Inter"/>
                <a:sym typeface="Inter"/>
              </a:rPr>
              <a:t>2025 год</a:t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Inter"/>
                <a:ea typeface="Inter"/>
                <a:cs typeface="Inter"/>
                <a:sym typeface="Inter"/>
              </a:rPr>
              <a:t>зубные щетки</a:t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Inter"/>
                <a:ea typeface="Inter"/>
                <a:cs typeface="Inter"/>
                <a:sym typeface="Inter"/>
              </a:rPr>
              <a:t>как увеличить продажи?</a:t>
            </a:r>
            <a:endParaRPr sz="2000">
              <a:solidFill>
                <a:schemeClr val="lt1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Google Shape;599;p65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600" name="Google Shape;600;p65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1" name="Google Shape;601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66"/>
          <p:cNvPicPr preferRelativeResize="0"/>
          <p:nvPr/>
        </p:nvPicPr>
        <p:blipFill rotWithShape="1">
          <a:blip r:embed="rId3">
            <a:alphaModFix/>
          </a:blip>
          <a:srcRect b="8322" l="0" r="0" t="41333"/>
          <a:stretch/>
        </p:blipFill>
        <p:spPr>
          <a:xfrm rot="10800000">
            <a:off x="0" y="5142726"/>
            <a:ext cx="18288000" cy="524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77339" y="5928625"/>
            <a:ext cx="6047835" cy="524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66"/>
          <p:cNvSpPr txBox="1"/>
          <p:nvPr/>
        </p:nvSpPr>
        <p:spPr>
          <a:xfrm>
            <a:off x="240150" y="0"/>
            <a:ext cx="15482700" cy="3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Разделимся на команды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10" name="Google Shape;610;p66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611" name="Google Shape;611;p66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2" name="Google Shape;612;p66"/>
          <p:cNvSpPr txBox="1"/>
          <p:nvPr/>
        </p:nvSpPr>
        <p:spPr>
          <a:xfrm>
            <a:off x="240150" y="5167800"/>
            <a:ext cx="66621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10</a:t>
            </a:r>
            <a:r>
              <a:rPr lang="en" sz="7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 минут</a:t>
            </a:r>
            <a:endParaRPr sz="700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7"/>
          <p:cNvSpPr txBox="1"/>
          <p:nvPr/>
        </p:nvSpPr>
        <p:spPr>
          <a:xfrm>
            <a:off x="240150" y="0"/>
            <a:ext cx="15482700" cy="4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Придумайте решение 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 увеличить частоту покупки щеток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18" name="Google Shape;618;p67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619" name="Google Shape;619;p67"/>
          <p:cNvSpPr/>
          <p:nvPr/>
        </p:nvSpPr>
        <p:spPr>
          <a:xfrm>
            <a:off x="0" y="5167800"/>
            <a:ext cx="18313200" cy="511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0" name="Google Shape;62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7339" y="5928625"/>
            <a:ext cx="6047835" cy="524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67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3" name="Google Shape;623;p67"/>
          <p:cNvSpPr txBox="1"/>
          <p:nvPr/>
        </p:nvSpPr>
        <p:spPr>
          <a:xfrm>
            <a:off x="240150" y="5167800"/>
            <a:ext cx="175908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20</a:t>
            </a:r>
            <a:r>
              <a:rPr lang="en" sz="7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 минут интервью</a:t>
            </a:r>
            <a:endParaRPr sz="700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10 минут индивидуальный шторминг</a:t>
            </a:r>
            <a:endParaRPr sz="700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20 минут командный шторминг</a:t>
            </a:r>
            <a:endParaRPr sz="700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68"/>
          <p:cNvPicPr preferRelativeResize="0"/>
          <p:nvPr/>
        </p:nvPicPr>
        <p:blipFill rotWithShape="1">
          <a:blip r:embed="rId3">
            <a:alphaModFix/>
          </a:blip>
          <a:srcRect b="8322" l="0" r="0" t="41333"/>
          <a:stretch/>
        </p:blipFill>
        <p:spPr>
          <a:xfrm rot="10800000">
            <a:off x="0" y="5142726"/>
            <a:ext cx="18288000" cy="524034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68"/>
          <p:cNvSpPr txBox="1"/>
          <p:nvPr/>
        </p:nvSpPr>
        <p:spPr>
          <a:xfrm>
            <a:off x="240150" y="0"/>
            <a:ext cx="15482700" cy="3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Презентация 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команды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30" name="Google Shape;630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77339" y="5928625"/>
            <a:ext cx="6047835" cy="524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68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633" name="Google Shape;633;p68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Google Shape;634;p68"/>
          <p:cNvSpPr txBox="1"/>
          <p:nvPr/>
        </p:nvSpPr>
        <p:spPr>
          <a:xfrm>
            <a:off x="240150" y="5167800"/>
            <a:ext cx="66621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2</a:t>
            </a:r>
            <a:r>
              <a:rPr lang="en" sz="7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 минуты</a:t>
            </a:r>
            <a:endParaRPr sz="700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407811" y="899587"/>
            <a:ext cx="9706573" cy="841064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69"/>
          <p:cNvSpPr txBox="1"/>
          <p:nvPr/>
        </p:nvSpPr>
        <p:spPr>
          <a:xfrm>
            <a:off x="240150" y="2882250"/>
            <a:ext cx="7053600" cy="14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Спасибо</a:t>
            </a:r>
            <a:endParaRPr sz="40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41" name="Google Shape;641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69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643" name="Google Shape;643;p69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44" name="Google Shape;64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8772189" y="899587"/>
            <a:ext cx="9706573" cy="841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