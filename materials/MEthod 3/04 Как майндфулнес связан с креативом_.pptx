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10287000" cx="18288000"/>
  <p:notesSz cx="6858000" cy="9144000"/>
  <p:embeddedFontLst>
    <p:embeddedFont>
      <p:font typeface="Inter"/>
      <p:regular r:id="rId73"/>
      <p:bold r:id="rId74"/>
      <p:italic r:id="rId75"/>
      <p:boldItalic r:id="rId76"/>
    </p:embeddedFont>
    <p:embeddedFont>
      <p:font typeface="Inter Medium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  <p15:guide id="3" pos="288">
          <p15:clr>
            <a:srgbClr val="747775"/>
          </p15:clr>
        </p15:guide>
        <p15:guide id="4" orient="horz" pos="288">
          <p15:clr>
            <a:srgbClr val="747775"/>
          </p15:clr>
        </p15:guide>
        <p15:guide id="5" pos="11232">
          <p15:clr>
            <a:srgbClr val="747775"/>
          </p15:clr>
        </p15:guide>
        <p15:guide id="6" orient="horz" pos="61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  <p:guide pos="288"/>
        <p:guide pos="288" orient="horz"/>
        <p:guide pos="11232"/>
        <p:guide pos="61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Inter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Inter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Inter-italic.fntdata"/><Relationship Id="rId30" Type="http://schemas.openxmlformats.org/officeDocument/2006/relationships/slide" Target="slides/slide25.xml"/><Relationship Id="rId74" Type="http://schemas.openxmlformats.org/officeDocument/2006/relationships/font" Target="fonts/Inter-bold.fntdata"/><Relationship Id="rId33" Type="http://schemas.openxmlformats.org/officeDocument/2006/relationships/slide" Target="slides/slide28.xml"/><Relationship Id="rId77" Type="http://schemas.openxmlformats.org/officeDocument/2006/relationships/font" Target="fonts/InterMedium-regular.fntdata"/><Relationship Id="rId32" Type="http://schemas.openxmlformats.org/officeDocument/2006/relationships/slide" Target="slides/slide27.xml"/><Relationship Id="rId76" Type="http://schemas.openxmlformats.org/officeDocument/2006/relationships/font" Target="fonts/Inter-boldItalic.fntdata"/><Relationship Id="rId35" Type="http://schemas.openxmlformats.org/officeDocument/2006/relationships/slide" Target="slides/slide30.xml"/><Relationship Id="rId79" Type="http://schemas.openxmlformats.org/officeDocument/2006/relationships/font" Target="fonts/InterMedium-italic.fntdata"/><Relationship Id="rId34" Type="http://schemas.openxmlformats.org/officeDocument/2006/relationships/slide" Target="slides/slide29.xml"/><Relationship Id="rId78" Type="http://schemas.openxmlformats.org/officeDocument/2006/relationships/font" Target="fonts/InterMedium-bold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b4b9a62c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9b4b9a62c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594d95a9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594d95a9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ef98b55500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ef98b55500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705780a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705780a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9b4b9a62c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9b4b9a62c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efee069d4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efee069d4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efee069d4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efee069d4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c80c9036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c80c9036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f0a785a5b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f0a785a5b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c80c9036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c80c9036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2629ac0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2629ac0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b6ee416db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b6ee416db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6ee416db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6ee416db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c80c9036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c80c9036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c80c9036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c80c9036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c80c9036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c80c9036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6ee416db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6ee416db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6ee416db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b6ee416db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f0a785a5b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f0a785a5b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f0a785a5b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f0a785a5b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b6ee416db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b6ee416db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b6ee416db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b6ee416db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b6ee416db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b6ee416db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b6ee416db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b6ee416db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c80c90362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8c80c9036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c80c9036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c80c9036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8c80c90362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8c80c9036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c80c90362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8c80c90362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c80c90362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c80c90362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c80c90362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8c80c90362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c80c90362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8c80c90362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c80c90362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c80c90362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c80c90362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c80c90362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b6ee416db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b6ee416db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b6ee416db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b6ee416db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b6ee416db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b6ee416db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8c80c9036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8c80c9036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b6ee416db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b6ee416db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8c80c90362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8c80c9036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8c80c9036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8c80c9036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b6ee416db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b6ee416db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b6ee416db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b6ee416db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b6ee416db1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b6ee416db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b6ee416db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b6ee416db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b6ee416db1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b6ee416db1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8c80c9036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8c80c9036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8c80c90362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8c80c90362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b6ee416db1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2b6ee416db1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f0a785a5b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f0a785a5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b6ee416db1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b6ee416db1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2629ac0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d2629ac0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b6ee416db1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b6ee416db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8c80c903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8c80c903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8c80c903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8c80c903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8c80c903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8c80c903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b6ee416db1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b6ee416db1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b6ee416db1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b6ee416db1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b6ee416db1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b6ee416db1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b6ee416db1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b6ee416db1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b6ee416db1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b6ee416db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b6ee416db1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b6ee416db1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f0a785a5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f0a785a5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f0a785a5b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f0a785a5b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b705780a1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b705780a1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705780a1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705780a1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b705780a1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b705780a1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b705780a1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b705780a1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hyperlink" Target="http://www.youtube.com/watch?v=KpfSuZshI00" TargetMode="External"/><Relationship Id="rId6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50" l="0" r="0" t="40"/>
          <a:stretch/>
        </p:blipFill>
        <p:spPr>
          <a:xfrm>
            <a:off x="3847775" y="525975"/>
            <a:ext cx="14190423" cy="1228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80751"/>
            <a:ext cx="6962360" cy="13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25800"/>
            <a:ext cx="18288000" cy="104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40150" y="0"/>
            <a:ext cx="16743300" cy="3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Что такое mindfulness </a:t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и почему это есть </a:t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на курсе?</a:t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4" name="Google Shape;64;p1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-5400000">
            <a:off x="1785965" y="4530965"/>
            <a:ext cx="5978060" cy="517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5400000">
            <a:off x="182792" y="4530959"/>
            <a:ext cx="5978049" cy="5175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7390000" y="0"/>
            <a:ext cx="108981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918" l="0" r="0" t="2445"/>
          <a:stretch/>
        </p:blipFill>
        <p:spPr>
          <a:xfrm>
            <a:off x="7390000" y="0"/>
            <a:ext cx="10897999" cy="815422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40150" y="0"/>
            <a:ext cx="71499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Rick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Rubin: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6" name="Google Shape;76;p1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5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25800"/>
            <a:ext cx="18288000" cy="104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240150" y="0"/>
            <a:ext cx="16743300" cy="3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Mindfulness — метод тренировки внимания, позволяющий сосредоточиться </a:t>
            </a:r>
            <a:r>
              <a:rPr lang="en" sz="6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в любой момент </a:t>
            </a:r>
            <a:br>
              <a:rPr lang="en" sz="6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6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на выбранном объекте и удерживать внимание столько сколько нужно</a:t>
            </a:r>
            <a:endParaRPr sz="93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86" name="Google Shape;86;p1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-5400000">
            <a:off x="1785965" y="4530965"/>
            <a:ext cx="5978060" cy="5175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94" name="Google Shape;94;p1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3600002">
            <a:off x="253199" y="7437327"/>
            <a:ext cx="2606451" cy="2914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7"/>
          <p:cNvCxnSpPr/>
          <p:nvPr/>
        </p:nvCxnSpPr>
        <p:spPr>
          <a:xfrm>
            <a:off x="7395213" y="556475"/>
            <a:ext cx="0" cy="922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7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Эксперимент: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 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98085" y="2559650"/>
            <a:ext cx="5369039" cy="5369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05" name="Google Shape;105;p1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3600002">
            <a:off x="253199" y="7437327"/>
            <a:ext cx="2606451" cy="2914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8"/>
          <p:cNvCxnSpPr/>
          <p:nvPr/>
        </p:nvCxnSpPr>
        <p:spPr>
          <a:xfrm>
            <a:off x="7395213" y="556475"/>
            <a:ext cx="0" cy="922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8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Эксперимент: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Что вы сейчас </a:t>
            </a:r>
            <a:b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делаете?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98085" y="2559650"/>
            <a:ext cx="5369039" cy="5369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Эксперимент: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Что вы сейчас </a:t>
            </a:r>
            <a:b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</a:t>
            </a: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елаете?</a:t>
            </a:r>
            <a:br>
              <a:rPr lang="en" sz="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О чем вы сейчас </a:t>
            </a:r>
            <a:b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думаете?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7" name="Google Shape;117;p1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8" name="Google Shape;118;p19"/>
          <p:cNvCxnSpPr/>
          <p:nvPr/>
        </p:nvCxnSpPr>
        <p:spPr>
          <a:xfrm>
            <a:off x="7395213" y="556475"/>
            <a:ext cx="0" cy="922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3600002">
            <a:off x="253199" y="7437327"/>
            <a:ext cx="2606451" cy="29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 rotWithShape="1">
          <a:blip r:embed="rId5">
            <a:alphaModFix/>
          </a:blip>
          <a:srcRect b="4296" l="0" r="0" t="4305"/>
          <a:stretch/>
        </p:blipFill>
        <p:spPr>
          <a:xfrm>
            <a:off x="9998085" y="2559650"/>
            <a:ext cx="5369040" cy="5369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Эксперимент: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5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Ответы совпали?</a:t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8" name="Google Shape;128;p2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9" name="Google Shape;129;p20"/>
          <p:cNvCxnSpPr/>
          <p:nvPr/>
        </p:nvCxnSpPr>
        <p:spPr>
          <a:xfrm>
            <a:off x="7395213" y="556475"/>
            <a:ext cx="0" cy="922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0" name="Google Shape;130;p2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3600002">
            <a:off x="253199" y="7437327"/>
            <a:ext cx="2606451" cy="29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 rotWithShape="1">
          <a:blip r:embed="rId5">
            <a:alphaModFix/>
          </a:blip>
          <a:srcRect b="4296" l="0" r="0" t="4305"/>
          <a:stretch/>
        </p:blipFill>
        <p:spPr>
          <a:xfrm>
            <a:off x="9998085" y="2559650"/>
            <a:ext cx="5369040" cy="5369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Наше внимание имеет ограниченную пропускную способность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9" name="Google Shape;139;p2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Чем меньше внимания — тем хуже результат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48" name="Google Shape;148;p2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Эксперимент 2011 года: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57" name="Google Shape;157;p2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Inter"/>
                <a:ea typeface="Inter"/>
                <a:cs typeface="Inter"/>
                <a:sym typeface="Inter"/>
              </a:rPr>
              <a:t>3 вопроса: что вы делаете, о чем вы думаете, что вы чувствуете?</a:t>
            </a: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r>
              <a:rPr lang="en" sz="3000">
                <a:latin typeface="Inter"/>
                <a:ea typeface="Inter"/>
                <a:cs typeface="Inter"/>
                <a:sym typeface="Inter"/>
              </a:rPr>
              <a:t>Именно в те моменты, когда люди думают НЕ о том, что делают, они чаще всего чувствуют себя несчастными.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0" name="Google Shape;160;p23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Причина 1: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68" name="Google Shape;168;p2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Тренировка внимания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4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Причина 1: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79" name="Google Shape;179;p2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Тренировка внимания,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чтобы концентрироваться на цели </a:t>
            </a:r>
            <a:b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не терять фокус.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25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Как?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90" name="Google Shape;190;p2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Усиливая избирательное внимание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6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Как?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01" name="Google Shape;201;p2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Усиливая избирательное внимание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Повышая емкость рабочей памяти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3" name="Google Shape;203;p27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27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Как?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12" name="Google Shape;212;p2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Усиливая избирательное внимание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Повышая емкость рабочей памяти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И исполнительный контроль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4" name="Google Shape;214;p28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8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помогает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 учебе?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240150" y="2882250"/>
            <a:ext cx="6504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Умение концентрироваться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24" name="Google Shape;224;p2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501" y="-4260950"/>
            <a:ext cx="12699453" cy="10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 txBox="1"/>
          <p:nvPr/>
        </p:nvSpPr>
        <p:spPr>
          <a:xfrm>
            <a:off x="240150" y="6146050"/>
            <a:ext cx="1441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7" name="Google Shape;227;p29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Ясность ума вместо фрустрации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прокрастинации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8" name="Google Shape;228;p29"/>
          <p:cNvPicPr preferRelativeResize="0"/>
          <p:nvPr/>
        </p:nvPicPr>
        <p:blipFill rotWithShape="1">
          <a:blip r:embed="rId5">
            <a:alphaModFix/>
          </a:blip>
          <a:srcRect b="19986" l="59866" r="23464" t="50000"/>
          <a:stretch/>
        </p:blipFill>
        <p:spPr>
          <a:xfrm rot="102">
            <a:off x="4571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Эксперимент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34" name="Google Shape;2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36" name="Google Shape;236;p3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3600002">
            <a:off x="253199" y="7437327"/>
            <a:ext cx="2606451" cy="2914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45 seconds countdown timer is made for professional use and has some minimal sound effects in the last 5 seconds." id="238" name="Google Shape;238;p30" title="45 SECONDS TIMER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44011" y="3180763"/>
            <a:ext cx="7077200" cy="3980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30"/>
          <p:cNvCxnSpPr/>
          <p:nvPr/>
        </p:nvCxnSpPr>
        <p:spPr>
          <a:xfrm>
            <a:off x="7395213" y="556475"/>
            <a:ext cx="0" cy="922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0"/>
          <p:cNvSpPr txBox="1"/>
          <p:nvPr/>
        </p:nvSpPr>
        <p:spPr>
          <a:xfrm>
            <a:off x="240150" y="2882250"/>
            <a:ext cx="6504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Когда вы отвлеклись?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На что вы потратили больше времени?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На дыхание, отвлечение или борьбу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 отвлечениями?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48" name="Google Shape;248;p3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помогает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 учебе?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240150" y="2882250"/>
            <a:ext cx="6504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Умение концентрироваться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6" name="Google Shape;2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58" name="Google Shape;258;p3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9" name="Google Shape;25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501" y="-4260950"/>
            <a:ext cx="12699453" cy="10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/>
          <p:nvPr/>
        </p:nvSpPr>
        <p:spPr>
          <a:xfrm>
            <a:off x="240150" y="6146050"/>
            <a:ext cx="1441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Ясность ума вместо скуки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6997550" y="6146050"/>
            <a:ext cx="1642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70646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Экономия времени и сил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4" name="Google Shape;264;p32"/>
          <p:cNvPicPr preferRelativeResize="0"/>
          <p:nvPr/>
        </p:nvPicPr>
        <p:blipFill rotWithShape="1">
          <a:blip r:embed="rId5">
            <a:alphaModFix/>
          </a:blip>
          <a:srcRect b="19986" l="59866" r="23464" t="50000"/>
          <a:stretch/>
        </p:blipFill>
        <p:spPr>
          <a:xfrm rot="102">
            <a:off x="4571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2"/>
          <p:cNvPicPr preferRelativeResize="0"/>
          <p:nvPr/>
        </p:nvPicPr>
        <p:blipFill rotWithShape="1">
          <a:blip r:embed="rId5">
            <a:alphaModFix/>
          </a:blip>
          <a:srcRect b="26211" l="75387" r="6917" t="41930"/>
          <a:stretch/>
        </p:blipFill>
        <p:spPr>
          <a:xfrm rot="102">
            <a:off x="72389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это поможет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 креативе?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240150" y="2882250"/>
            <a:ext cx="6504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Умение концентрироваться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2" name="Google Shape;2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74" name="Google Shape;274;p3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5" name="Google Shape;27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501" y="-4260950"/>
            <a:ext cx="12699453" cy="10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240150" y="6146050"/>
            <a:ext cx="1441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Сжатые сроки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6997550" y="6146050"/>
            <a:ext cx="1642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9" name="Google Shape;279;p33"/>
          <p:cNvSpPr txBox="1"/>
          <p:nvPr/>
        </p:nvSpPr>
        <p:spPr>
          <a:xfrm>
            <a:off x="70646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Большие планы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0" name="Google Shape;280;p33"/>
          <p:cNvPicPr preferRelativeResize="0"/>
          <p:nvPr/>
        </p:nvPicPr>
        <p:blipFill rotWithShape="1">
          <a:blip r:embed="rId5">
            <a:alphaModFix/>
          </a:blip>
          <a:srcRect b="19986" l="59866" r="23464" t="50000"/>
          <a:stretch/>
        </p:blipFill>
        <p:spPr>
          <a:xfrm rot="102">
            <a:off x="4571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3"/>
          <p:cNvPicPr preferRelativeResize="0"/>
          <p:nvPr/>
        </p:nvPicPr>
        <p:blipFill rotWithShape="1">
          <a:blip r:embed="rId5">
            <a:alphaModFix/>
          </a:blip>
          <a:srcRect b="26211" l="75387" r="6917" t="41930"/>
          <a:stretch/>
        </p:blipFill>
        <p:spPr>
          <a:xfrm rot="102">
            <a:off x="72389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Результат: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87" name="Google Shape;2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89" name="Google Shape;289;p3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Без напряжения удерживать внимание на выбранном объекте.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Замечать отвлечения — возвращать внимание.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Меньше отвлекаться — быстрее и качественнее выполнять работу, испытывать от этого удовольствие.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1" name="Google Shape;291;p3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34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помогает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 учебе?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240150" y="2882250"/>
            <a:ext cx="53100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Умение переключать внимание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9" name="Google Shape;2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01" name="Google Shape;301;p3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2" name="Google Shape;30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501" y="-4260950"/>
            <a:ext cx="12699453" cy="10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5"/>
          <p:cNvSpPr txBox="1"/>
          <p:nvPr/>
        </p:nvSpPr>
        <p:spPr>
          <a:xfrm>
            <a:off x="240150" y="6146050"/>
            <a:ext cx="1441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Многозадачность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5" name="Google Shape;305;p35"/>
          <p:cNvPicPr preferRelativeResize="0"/>
          <p:nvPr/>
        </p:nvPicPr>
        <p:blipFill rotWithShape="1">
          <a:blip r:embed="rId5">
            <a:alphaModFix/>
          </a:blip>
          <a:srcRect b="4653" l="52876" r="21936" t="50000"/>
          <a:stretch/>
        </p:blipFill>
        <p:spPr>
          <a:xfrm rot="102">
            <a:off x="4571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Эксперимент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11" name="Google Shape;31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13" name="Google Shape;313;p3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4" name="Google Shape;314;p36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3600002">
            <a:off x="253199" y="7437327"/>
            <a:ext cx="2606451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6"/>
          <p:cNvSpPr txBox="1"/>
          <p:nvPr/>
        </p:nvSpPr>
        <p:spPr>
          <a:xfrm>
            <a:off x="7884625" y="3470675"/>
            <a:ext cx="8765100" cy="28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Я придумываю шикарные идеи</a:t>
            </a:r>
            <a:br>
              <a:rPr lang="en" sz="3600">
                <a:solidFill>
                  <a:schemeClr val="dk2"/>
                </a:solidFill>
              </a:rPr>
            </a:br>
            <a:r>
              <a:rPr lang="en" sz="3600">
                <a:solidFill>
                  <a:schemeClr val="dk2"/>
                </a:solidFill>
              </a:rPr>
              <a:t>1 2 3 4 5 6 7 8 9 10 11 12 13 … 22</a:t>
            </a:r>
            <a:br>
              <a:rPr lang="en" sz="3600">
                <a:solidFill>
                  <a:schemeClr val="dk2"/>
                </a:solidFill>
              </a:rPr>
            </a:br>
            <a:br>
              <a:rPr lang="en" sz="3600">
                <a:solidFill>
                  <a:schemeClr val="dk2"/>
                </a:solidFill>
              </a:rPr>
            </a:br>
            <a:br>
              <a:rPr lang="en" sz="3600">
                <a:solidFill>
                  <a:schemeClr val="dk2"/>
                </a:solidFill>
              </a:rPr>
            </a:br>
            <a:endParaRPr sz="3600">
              <a:solidFill>
                <a:schemeClr val="dk2"/>
              </a:solidFill>
            </a:endParaRPr>
          </a:p>
        </p:txBody>
      </p:sp>
      <p:cxnSp>
        <p:nvCxnSpPr>
          <p:cNvPr id="316" name="Google Shape;316;p36"/>
          <p:cNvCxnSpPr/>
          <p:nvPr/>
        </p:nvCxnSpPr>
        <p:spPr>
          <a:xfrm>
            <a:off x="7395213" y="556475"/>
            <a:ext cx="0" cy="922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25800"/>
            <a:ext cx="18288000" cy="104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7"/>
          <p:cNvSpPr txBox="1"/>
          <p:nvPr/>
        </p:nvSpPr>
        <p:spPr>
          <a:xfrm>
            <a:off x="240150" y="0"/>
            <a:ext cx="16743300" cy="3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На самом деле, мы быстро переключаем наше внимание между несколькими задачами.</a:t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23" name="Google Shape;32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25" name="Google Shape;325;p3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6" name="Google Shape;326;p37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-5400000">
            <a:off x="1785965" y="4530965"/>
            <a:ext cx="5978060" cy="517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7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5400000">
            <a:off x="182792" y="4530959"/>
            <a:ext cx="5978049" cy="5175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25800"/>
            <a:ext cx="18288000" cy="104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8"/>
          <p:cNvSpPr txBox="1"/>
          <p:nvPr/>
        </p:nvSpPr>
        <p:spPr>
          <a:xfrm>
            <a:off x="240150" y="0"/>
            <a:ext cx="16743300" cy="3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И у этого есть цена —</a:t>
            </a:r>
            <a:b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switch coast</a:t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34" name="Google Shape;33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36" name="Google Shape;336;p3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7" name="Google Shape;337;p38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-5400000">
            <a:off x="1785965" y="4530965"/>
            <a:ext cx="5978060" cy="517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8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5400000">
            <a:off x="182792" y="4530959"/>
            <a:ext cx="5978049" cy="5175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 многозадачности мы: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44" name="Google Shape;3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46" name="Google Shape;346;p3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Тратим больше времени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8" name="Google Shape;348;p39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" name="Google Shape;349;p39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 многозадачности мы: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55" name="Google Shape;35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57" name="Google Shape;357;p4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40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Тратим больше времени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Тратим больше сил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9" name="Google Shape;359;p4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" name="Google Shape;360;p40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 многозадачности мы: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66" name="Google Shape;3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68" name="Google Shape;368;p4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Тратим больше времени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Тратим больше сил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Совершаем больше ошибок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0" name="Google Shape;370;p41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p41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Переключение 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отнимает до 40% продуктивного времени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77" name="Google Shape;3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79" name="Google Shape;379;p4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0" name="Google Shape;380;p4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Если вы отвлеклись,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то потеряли от 15 до 30 минут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86" name="Google Shape;3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88" name="Google Shape;388;p4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9" name="Google Shape;389;p4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Вы, как сотрудник.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Вы, как руководитель.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Вы, как CEO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95" name="Google Shape;3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97" name="Google Shape;397;p4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8" name="Google Shape;398;p4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25800"/>
            <a:ext cx="18288000" cy="104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5"/>
          <p:cNvSpPr txBox="1"/>
          <p:nvPr/>
        </p:nvSpPr>
        <p:spPr>
          <a:xfrm>
            <a:off x="240150" y="0"/>
            <a:ext cx="16743300" cy="3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Оценивайте, насколько полезно вам сейчас переключить внимание?</a:t>
            </a:r>
            <a:endParaRPr sz="92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05" name="Google Shape;40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07" name="Google Shape;407;p4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8" name="Google Shape;408;p45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-5400000">
            <a:off x="1785965" y="4530965"/>
            <a:ext cx="5978060" cy="517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5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5400000">
            <a:off x="182792" y="4530959"/>
            <a:ext cx="5978049" cy="5175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помогает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 учебе?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5" name="Google Shape;415;p46"/>
          <p:cNvSpPr txBox="1"/>
          <p:nvPr/>
        </p:nvSpPr>
        <p:spPr>
          <a:xfrm>
            <a:off x="240150" y="2882250"/>
            <a:ext cx="53100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Умение переключаться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16" name="Google Shape;41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18" name="Google Shape;418;p4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19" name="Google Shape;41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501" y="-4260950"/>
            <a:ext cx="12699453" cy="10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6"/>
          <p:cNvSpPr txBox="1"/>
          <p:nvPr/>
        </p:nvSpPr>
        <p:spPr>
          <a:xfrm>
            <a:off x="240150" y="6146050"/>
            <a:ext cx="1441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21" name="Google Shape;421;p46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Многозадачность: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работа VS учеба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46"/>
          <p:cNvSpPr txBox="1"/>
          <p:nvPr/>
        </p:nvSpPr>
        <p:spPr>
          <a:xfrm>
            <a:off x="6997550" y="6146050"/>
            <a:ext cx="1642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23" name="Google Shape;423;p46"/>
          <p:cNvSpPr txBox="1"/>
          <p:nvPr/>
        </p:nvSpPr>
        <p:spPr>
          <a:xfrm>
            <a:off x="70646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Не зацикливаться: на сильных эмоциях, негативной эмоции, эмоционально заряженной ситуации, проблеме, идее, роли, себе.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4" name="Google Shape;424;p46"/>
          <p:cNvPicPr preferRelativeResize="0"/>
          <p:nvPr/>
        </p:nvPicPr>
        <p:blipFill rotWithShape="1">
          <a:blip r:embed="rId5">
            <a:alphaModFix/>
          </a:blip>
          <a:srcRect b="4653" l="52876" r="21936" t="50000"/>
          <a:stretch/>
        </p:blipFill>
        <p:spPr>
          <a:xfrm rot="102">
            <a:off x="4571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6"/>
          <p:cNvPicPr preferRelativeResize="0"/>
          <p:nvPr/>
        </p:nvPicPr>
        <p:blipFill rotWithShape="1">
          <a:blip r:embed="rId5">
            <a:alphaModFix/>
          </a:blip>
          <a:srcRect b="37276" l="55705" r="19107" t="17377"/>
          <a:stretch/>
        </p:blipFill>
        <p:spPr>
          <a:xfrm rot="102">
            <a:off x="72389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Результат: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31" name="Google Shape;43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33" name="Google Shape;433;p4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47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Эффективно и безболезненно переключаться между задачами;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Снижать/предупреждать фрустрацию;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Char char="●"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Видеть разные решения и подходы </a:t>
            </a:r>
            <a:b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 одной и той же ситуации.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5" name="Google Shape;435;p47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6" name="Google Shape;436;p47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8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помогает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 учебе?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2" name="Google Shape;442;p48"/>
          <p:cNvSpPr txBox="1"/>
          <p:nvPr/>
        </p:nvSpPr>
        <p:spPr>
          <a:xfrm>
            <a:off x="240150" y="2882250"/>
            <a:ext cx="5838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Более качественное внимание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3" name="Google Shape;44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45" name="Google Shape;445;p4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6" name="Google Shape;44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501" y="-4260950"/>
            <a:ext cx="12699453" cy="10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8"/>
          <p:cNvSpPr txBox="1"/>
          <p:nvPr/>
        </p:nvSpPr>
        <p:spPr>
          <a:xfrm>
            <a:off x="240150" y="6146050"/>
            <a:ext cx="1441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8" name="Google Shape;448;p48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Ум новичка: поиск инсайтов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неординарных идей, роль ученика, открытость к чужому мнению, любопытство вместо предположений.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9" name="Google Shape;449;p48"/>
          <p:cNvPicPr preferRelativeResize="0"/>
          <p:nvPr/>
        </p:nvPicPr>
        <p:blipFill rotWithShape="1">
          <a:blip r:embed="rId5">
            <a:alphaModFix/>
          </a:blip>
          <a:srcRect b="9945" l="59244" r="15568" t="44708"/>
          <a:stretch/>
        </p:blipFill>
        <p:spPr>
          <a:xfrm rot="102">
            <a:off x="4571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помогает </a:t>
            </a:r>
            <a:b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 креативе?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55" name="Google Shape;455;p49"/>
          <p:cNvSpPr txBox="1"/>
          <p:nvPr/>
        </p:nvSpPr>
        <p:spPr>
          <a:xfrm>
            <a:off x="240150" y="2882250"/>
            <a:ext cx="5838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Более качественное внимание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6" name="Google Shape;4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58" name="Google Shape;458;p4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9" name="Google Shape;45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501" y="-4260950"/>
            <a:ext cx="12699453" cy="10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9"/>
          <p:cNvSpPr txBox="1"/>
          <p:nvPr/>
        </p:nvSpPr>
        <p:spPr>
          <a:xfrm>
            <a:off x="240150" y="6146050"/>
            <a:ext cx="1441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61" name="Google Shape;461;p49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Ум новичка: поиск инсайтов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неординарных идей, роль ученика, открытость к чужому мнению, любопытство вместо предположений.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Google Shape;462;p49"/>
          <p:cNvSpPr txBox="1"/>
          <p:nvPr/>
        </p:nvSpPr>
        <p:spPr>
          <a:xfrm>
            <a:off x="6997550" y="6146050"/>
            <a:ext cx="16422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II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70646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Контроль автопилота: привычные действия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 реакция, шаблонные идеи, привычные пути решения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4" name="Google Shape;464;p49"/>
          <p:cNvPicPr preferRelativeResize="0"/>
          <p:nvPr/>
        </p:nvPicPr>
        <p:blipFill rotWithShape="1">
          <a:blip r:embed="rId5">
            <a:alphaModFix/>
          </a:blip>
          <a:srcRect b="9945" l="59244" r="15568" t="44708"/>
          <a:stretch/>
        </p:blipFill>
        <p:spPr>
          <a:xfrm rot="102">
            <a:off x="4571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9"/>
          <p:cNvPicPr preferRelativeResize="0"/>
          <p:nvPr/>
        </p:nvPicPr>
        <p:blipFill rotWithShape="1">
          <a:blip r:embed="rId5">
            <a:alphaModFix/>
          </a:blip>
          <a:srcRect b="54653" l="74812" r="0" t="0"/>
          <a:stretch/>
        </p:blipFill>
        <p:spPr>
          <a:xfrm rot="102">
            <a:off x="7238998" y="5143519"/>
            <a:ext cx="484306" cy="49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0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Результат: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71" name="Google Shape;47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73" name="Google Shape;473;p5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50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За счет открытости и любознательности получить больше пользы от обучения;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5" name="Google Shape;475;p5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" name="Google Shape;476;p50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1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Результат: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82" name="Google Shape;4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84" name="Google Shape;484;p5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" name="Google Shape;485;p51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За счет открытости и любознательности получить больше пользы от обучения;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Более свежие и неординарные идеи и наблюдения благодаря качественному вниманию;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6" name="Google Shape;486;p51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" name="Google Shape;487;p51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2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Результат: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493" name="Google Shape;49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495" name="Google Shape;495;p5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6" name="Google Shape;496;p52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За счет открытости и любознательности получить больше пользы от обучения;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Более свежие и неординарные идеи и наблюдения благодаря качественному вниманию;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Char char="●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Получать удовольствие от процесса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7" name="Google Shape;497;p5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p52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3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Чтобы быть довольными собой и своей работой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04" name="Google Shape;50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06" name="Google Shape;506;p5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7" name="Google Shape;507;p5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4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 снижать количество стресса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13" name="Google Shape;51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15" name="Google Shape;515;p5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6" name="Google Shape;516;p5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5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rgbClr val="EBEBEB"/>
                </a:solidFill>
                <a:latin typeface="Inter Medium"/>
                <a:ea typeface="Inter Medium"/>
                <a:cs typeface="Inter Medium"/>
                <a:sym typeface="Inter Medium"/>
              </a:rPr>
              <a:t>Перерыв</a:t>
            </a:r>
            <a:endParaRPr sz="9200">
              <a:solidFill>
                <a:srgbClr val="EBEB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22" name="Google Shape;52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24" name="Google Shape;524;p5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5" name="Google Shape;52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896308">
            <a:off x="8057402" y="4332127"/>
            <a:ext cx="1874444" cy="1622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6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«Стресс делает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людей тупыми»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31" name="Google Shape;53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33" name="Google Shape;533;p5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34" name="Google Shape;534;p56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7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Причина 2: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40" name="Google Shape;54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42" name="Google Shape;542;p5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3" name="Google Shape;543;p57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7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Стресс во время обучения: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сужает внимание, а значит ограничивает когнитивные способности </a:t>
            </a: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r>
              <a:rPr lang="en" sz="3000">
                <a:latin typeface="Inter"/>
                <a:ea typeface="Inter"/>
                <a:cs typeface="Inter"/>
                <a:sym typeface="Inter"/>
              </a:rPr>
              <a:t>и креативность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45" name="Google Shape;545;p57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Причина 2: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51" name="Google Shape;55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53" name="Google Shape;553;p5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4" name="Google Shape;554;p58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8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Стресс во время обучения: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сужает внимание, а значит ограничивает когнитивные способности </a:t>
            </a: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r>
              <a:rPr lang="en" sz="3000">
                <a:latin typeface="Inter"/>
                <a:ea typeface="Inter"/>
                <a:cs typeface="Inter"/>
                <a:sym typeface="Inter"/>
              </a:rPr>
              <a:t>и креативность;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ограничивает эмоциональные реакции </a:t>
            </a: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r>
              <a:rPr lang="en" sz="3000">
                <a:latin typeface="Inter"/>
                <a:ea typeface="Inter"/>
                <a:cs typeface="Inter"/>
                <a:sym typeface="Inter"/>
              </a:rPr>
              <a:t>и провоцирует реакцию «бей/беги/замри» вместо «твори/пробуй/экспериментируй»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56" name="Google Shape;556;p58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9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Причина 2: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62" name="Google Shape;56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64" name="Google Shape;564;p5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5" name="Google Shape;565;p59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9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Стресс во время обучения: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сужает внимание, а значит ограничивает когнитивные способности </a:t>
            </a: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r>
              <a:rPr lang="en" sz="3000">
                <a:latin typeface="Inter"/>
                <a:ea typeface="Inter"/>
                <a:cs typeface="Inter"/>
                <a:sym typeface="Inter"/>
              </a:rPr>
              <a:t>и креативность;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ограничивает эмоциональные реакции </a:t>
            </a: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r>
              <a:rPr lang="en" sz="3000">
                <a:latin typeface="Inter"/>
                <a:ea typeface="Inter"/>
                <a:cs typeface="Inter"/>
                <a:sym typeface="Inter"/>
              </a:rPr>
              <a:t>и провоцирует реакцию «бей/беги/замри» вместо «твори/пробуй/</a:t>
            </a: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экспериментируй</a:t>
            </a:r>
            <a:r>
              <a:rPr lang="en" sz="3000">
                <a:latin typeface="Inter"/>
                <a:ea typeface="Inter"/>
                <a:cs typeface="Inter"/>
                <a:sym typeface="Inter"/>
              </a:rPr>
              <a:t>»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сковывает и забирает силы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67" name="Google Shape;567;p59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0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Когда мы расслаблены, мы продуктивнее на 47%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73" name="Google Shape;57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6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75" name="Google Shape;575;p6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6" name="Google Shape;576;p6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457200" y="3035178"/>
            <a:ext cx="5447450" cy="60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1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Расслабленность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не равно лень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83" name="Google Shape;5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85" name="Google Shape;585;p6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6" name="Google Shape;586;p61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242986" y="5032188"/>
            <a:ext cx="1875889" cy="209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1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457200" y="3035178"/>
            <a:ext cx="5447450" cy="60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2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Сосредоточенность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93" name="Google Shape;59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595" name="Google Shape;595;p6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6" name="Google Shape;596;p6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242986" y="5032188"/>
            <a:ext cx="1875889" cy="209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457200" y="3035178"/>
            <a:ext cx="5447450" cy="60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3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Сосредоточенность 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не равно напряженность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03" name="Google Shape;60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05" name="Google Shape;605;p6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6" name="Google Shape;606;p6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242986" y="5032188"/>
            <a:ext cx="1875889" cy="209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6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457200" y="3035178"/>
            <a:ext cx="5447450" cy="60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4"/>
          <p:cNvSpPr txBox="1"/>
          <p:nvPr/>
        </p:nvSpPr>
        <p:spPr>
          <a:xfrm>
            <a:off x="240150" y="0"/>
            <a:ext cx="15482700" cy="16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Стресс VS Майндфулнес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13" name="Google Shape;61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15" name="Google Shape;615;p6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64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Стресс: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сужает внимание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ограничивает эмоциональные реакции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сковывает и забирает силы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7" name="Google Shape;617;p64"/>
          <p:cNvSpPr txBox="1"/>
          <p:nvPr/>
        </p:nvSpPr>
        <p:spPr>
          <a:xfrm>
            <a:off x="9144000" y="2882250"/>
            <a:ext cx="85590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Майндфулнес: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8" name="Google Shape;618;p6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908860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5"/>
          <p:cNvSpPr txBox="1"/>
          <p:nvPr/>
        </p:nvSpPr>
        <p:spPr>
          <a:xfrm>
            <a:off x="240150" y="0"/>
            <a:ext cx="15482700" cy="16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Стресс VS Майндфулнес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24" name="Google Shape;62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6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26" name="Google Shape;626;p6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p65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Стресс: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сужает внимание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ограничивает эмоциональные реакции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сковывает и забирает силы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8" name="Google Shape;628;p65"/>
          <p:cNvSpPr txBox="1"/>
          <p:nvPr/>
        </p:nvSpPr>
        <p:spPr>
          <a:xfrm>
            <a:off x="9144000" y="2882250"/>
            <a:ext cx="85590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Майндфулнес: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расширяет внимание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9" name="Google Shape;629;p65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908860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6"/>
          <p:cNvSpPr txBox="1"/>
          <p:nvPr/>
        </p:nvSpPr>
        <p:spPr>
          <a:xfrm>
            <a:off x="240150" y="0"/>
            <a:ext cx="15482700" cy="16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Стресс VS Майндфулнес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35" name="Google Shape;63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37" name="Google Shape;637;p6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8" name="Google Shape;638;p66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Стресс: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сужает внимание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ограничивает эмоциональные реакции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сковывает и забирает силы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Google Shape;639;p66"/>
          <p:cNvSpPr txBox="1"/>
          <p:nvPr/>
        </p:nvSpPr>
        <p:spPr>
          <a:xfrm>
            <a:off x="9144000" y="2882250"/>
            <a:ext cx="85590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Майндфулнес: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расширяет внимание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расширяет эмоциональные реакции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0" name="Google Shape;640;p66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908860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 txBox="1"/>
          <p:nvPr/>
        </p:nvSpPr>
        <p:spPr>
          <a:xfrm>
            <a:off x="240150" y="0"/>
            <a:ext cx="15482700" cy="16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Стресс VS Майндфулнес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46" name="Google Shape;64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6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48" name="Google Shape;648;p6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9" name="Google Shape;649;p67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Стресс: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сужает внимание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ограничивает эмоциональные реакции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сковывает и забирает силы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0" name="Google Shape;650;p67"/>
          <p:cNvSpPr txBox="1"/>
          <p:nvPr/>
        </p:nvSpPr>
        <p:spPr>
          <a:xfrm>
            <a:off x="9144000" y="2882250"/>
            <a:ext cx="85590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Майндфулнес: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расширяет внимание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расширяет эмоциональные реакции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через движение освобождает </a:t>
            </a: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r>
              <a:rPr lang="en" sz="3000">
                <a:latin typeface="Inter"/>
                <a:ea typeface="Inter"/>
                <a:cs typeface="Inter"/>
                <a:sym typeface="Inter"/>
              </a:rPr>
              <a:t>от напряжения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1" name="Google Shape;651;p67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908860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Как?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57" name="Google Shape;65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59" name="Google Shape;659;p6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0" name="Google Shape;660;p68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Font typeface="Inter"/>
              <a:buAutoNum type="arabicPeriod"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Расширить внимание =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r>
              <a:rPr lang="en" sz="4000">
                <a:latin typeface="Inter"/>
                <a:ea typeface="Inter"/>
                <a:cs typeface="Inter"/>
                <a:sym typeface="Inter"/>
              </a:rPr>
              <a:t>заметить дыхание, звуки, запахи, ощущения.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r>
              <a:rPr i="1" lang="en" sz="4000">
                <a:latin typeface="Inter"/>
                <a:ea typeface="Inter"/>
                <a:cs typeface="Inter"/>
                <a:sym typeface="Inter"/>
              </a:rPr>
              <a:t>Практики: </a:t>
            </a:r>
            <a:r>
              <a:rPr i="1" lang="en" sz="4000">
                <a:latin typeface="Inter"/>
                <a:ea typeface="Inter"/>
                <a:cs typeface="Inter"/>
                <a:sym typeface="Inter"/>
              </a:rPr>
              <a:t>н</a:t>
            </a:r>
            <a:r>
              <a:rPr i="1" lang="en" sz="4000">
                <a:latin typeface="Inter"/>
                <a:ea typeface="Inter"/>
                <a:cs typeface="Inter"/>
                <a:sym typeface="Inter"/>
              </a:rPr>
              <a:t>аблюдения за дыханием, наблюдение </a:t>
            </a:r>
            <a:br>
              <a:rPr i="1" lang="en" sz="4000">
                <a:latin typeface="Inter"/>
                <a:ea typeface="Inter"/>
                <a:cs typeface="Inter"/>
                <a:sym typeface="Inter"/>
              </a:rPr>
            </a:br>
            <a:r>
              <a:rPr i="1" lang="en" sz="4000">
                <a:latin typeface="Inter"/>
                <a:ea typeface="Inter"/>
                <a:cs typeface="Inter"/>
                <a:sym typeface="Inter"/>
              </a:rPr>
              <a:t>за звуками, сканирование тела, осознанное движение.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61" name="Google Shape;661;p68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2" name="Google Shape;662;p68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9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Как?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68" name="Google Shape;66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70" name="Google Shape;670;p6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1" name="Google Shape;671;p69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2. Добавить движение</a:t>
            </a:r>
            <a:r>
              <a:rPr lang="en" sz="4000">
                <a:latin typeface="Inter"/>
                <a:ea typeface="Inter"/>
                <a:cs typeface="Inter"/>
                <a:sym typeface="Inter"/>
              </a:rPr>
              <a:t> =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начать двигаться, потянуться, размяться, сменить позу,</a:t>
            </a:r>
            <a:b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занять больше места, </a:t>
            </a:r>
            <a:r>
              <a:rPr lang="en" sz="4000">
                <a:latin typeface="Inter"/>
                <a:ea typeface="Inter"/>
                <a:cs typeface="Inter"/>
                <a:sym typeface="Inter"/>
              </a:rPr>
              <a:t>поменять рабочее пространство, походить etc.</a:t>
            </a:r>
            <a:br>
              <a:rPr lang="en" sz="4000">
                <a:latin typeface="Inter"/>
                <a:ea typeface="Inter"/>
                <a:cs typeface="Inter"/>
                <a:sym typeface="Inter"/>
              </a:rPr>
            </a:b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2" name="Google Shape;672;p69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5318637"/>
            <a:ext cx="1459832" cy="1632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69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4" name="Google Shape;674;p69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0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Как?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80" name="Google Shape;68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7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82" name="Google Shape;682;p7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3" name="Google Shape;683;p70"/>
          <p:cNvSpPr txBox="1"/>
          <p:nvPr/>
        </p:nvSpPr>
        <p:spPr>
          <a:xfrm>
            <a:off x="427200" y="2882250"/>
            <a:ext cx="15108600" cy="6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" sz="4000">
                <a:latin typeface="Inter"/>
                <a:ea typeface="Inter"/>
                <a:cs typeface="Inter"/>
                <a:sym typeface="Inter"/>
              </a:rPr>
              <a:t>. К страху, злости, раздражению, зависти добавить</a:t>
            </a:r>
            <a:endParaRPr sz="4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теплый спектр эмоций по отношению к себе и другим.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Inter"/>
                <a:ea typeface="Inter"/>
                <a:cs typeface="Inter"/>
                <a:sym typeface="Inter"/>
              </a:rPr>
              <a:t>    Практики: метта, практика развития сострадания</a:t>
            </a:r>
            <a:r>
              <a:rPr lang="en" sz="4000">
                <a:latin typeface="Inter"/>
                <a:ea typeface="Inter"/>
                <a:cs typeface="Inter"/>
                <a:sym typeface="Inter"/>
              </a:rPr>
              <a:t>, </a:t>
            </a:r>
            <a:r>
              <a:rPr i="1" lang="en" sz="4000">
                <a:latin typeface="Inter"/>
                <a:ea typeface="Inter"/>
                <a:cs typeface="Inter"/>
                <a:sym typeface="Inter"/>
              </a:rPr>
              <a:t>центрирование</a:t>
            </a:r>
            <a:endParaRPr i="1"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4" name="Google Shape;684;p7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5318637"/>
            <a:ext cx="1459832" cy="1632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70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16173372" y="2848949"/>
            <a:ext cx="1459832" cy="16325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6" name="Google Shape;686;p70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1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возвращать ненапряженность</a:t>
            </a:r>
            <a:b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 течение дня?</a:t>
            </a:r>
            <a:endParaRPr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92" name="Google Shape;69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7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94" name="Google Shape;694;p7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95" name="Google Shape;695;p71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2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Добавляем расслабление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01" name="Google Shape;701;p72"/>
          <p:cNvSpPr txBox="1"/>
          <p:nvPr/>
        </p:nvSpPr>
        <p:spPr>
          <a:xfrm>
            <a:off x="240150" y="2882250"/>
            <a:ext cx="53100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2" name="Google Shape;70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7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04" name="Google Shape;704;p7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5" name="Google Shape;705;p72"/>
          <p:cNvSpPr txBox="1"/>
          <p:nvPr/>
        </p:nvSpPr>
        <p:spPr>
          <a:xfrm>
            <a:off x="30725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AutoNum type="arabicPeriod"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Тело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Каждые 10 минут обращайте внимание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 свои плечи, скулы, брови, лоб и живот.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Напряжение — мягкий выдох — расслабление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06" name="Google Shape;706;p72"/>
          <p:cNvCxnSpPr/>
          <p:nvPr/>
        </p:nvCxnSpPr>
        <p:spPr>
          <a:xfrm rot="10800000">
            <a:off x="457250" y="4331950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07" name="Google Shape;707;p72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3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Добавляем </a:t>
            </a: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расслабление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13" name="Google Shape;713;p73"/>
          <p:cNvSpPr txBox="1"/>
          <p:nvPr/>
        </p:nvSpPr>
        <p:spPr>
          <a:xfrm>
            <a:off x="240150" y="2882250"/>
            <a:ext cx="53100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4" name="Google Shape;71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7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16" name="Google Shape;716;p7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7" name="Google Shape;717;p73"/>
          <p:cNvSpPr txBox="1"/>
          <p:nvPr/>
        </p:nvSpPr>
        <p:spPr>
          <a:xfrm>
            <a:off x="30725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AutoNum type="arabicPeriod"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Тело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Каждые 10 минут обращайте внимание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 свои плечи, скулы, брови, лоб и живот.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Напряжение — мягкий выдох — расслабление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8" name="Google Shape;718;p73"/>
          <p:cNvSpPr txBox="1"/>
          <p:nvPr/>
        </p:nvSpPr>
        <p:spPr>
          <a:xfrm>
            <a:off x="611520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Дыхание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Дыхание под счет всего 1 минуту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19" name="Google Shape;719;p73"/>
          <p:cNvCxnSpPr/>
          <p:nvPr/>
        </p:nvCxnSpPr>
        <p:spPr>
          <a:xfrm rot="10800000">
            <a:off x="457250" y="4331950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0" name="Google Shape;720;p7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73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61899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4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Добавляем </a:t>
            </a: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расслабление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27" name="Google Shape;727;p74"/>
          <p:cNvSpPr txBox="1"/>
          <p:nvPr/>
        </p:nvSpPr>
        <p:spPr>
          <a:xfrm>
            <a:off x="240150" y="2882250"/>
            <a:ext cx="53100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8" name="Google Shape;72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7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30" name="Google Shape;730;p7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1" name="Google Shape;731;p74"/>
          <p:cNvSpPr txBox="1"/>
          <p:nvPr/>
        </p:nvSpPr>
        <p:spPr>
          <a:xfrm>
            <a:off x="30725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AutoNum type="arabicPeriod"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Тело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Каждые 10 минут обращайте внимание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 свои плечи, скулы, брови, лоб и живот.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Напряжение — мягкий выдох — расслабление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p74"/>
          <p:cNvSpPr txBox="1"/>
          <p:nvPr/>
        </p:nvSpPr>
        <p:spPr>
          <a:xfrm>
            <a:off x="611520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Дыхание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Дыхание под счет всего 1 минуту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33" name="Google Shape;733;p74"/>
          <p:cNvCxnSpPr/>
          <p:nvPr/>
        </p:nvCxnSpPr>
        <p:spPr>
          <a:xfrm rot="10800000">
            <a:off x="457250" y="4331950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4" name="Google Shape;734;p7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7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61899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74"/>
          <p:cNvSpPr txBox="1"/>
          <p:nvPr/>
        </p:nvSpPr>
        <p:spPr>
          <a:xfrm>
            <a:off x="611520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Дыхание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Дыхание под счет всего 1 минуту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Google Shape;737;p74"/>
          <p:cNvSpPr txBox="1"/>
          <p:nvPr/>
        </p:nvSpPr>
        <p:spPr>
          <a:xfrm>
            <a:off x="1187460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Паузы в течение дня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Берите паузу между сменой деятельности, делайте минутную паузу в долгом разговоре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8" name="Google Shape;738;p74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12293900" y="728317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5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Добавляем расслабление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44" name="Google Shape;744;p75"/>
          <p:cNvSpPr txBox="1"/>
          <p:nvPr/>
        </p:nvSpPr>
        <p:spPr>
          <a:xfrm>
            <a:off x="240150" y="2882250"/>
            <a:ext cx="53100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45" name="Google Shape;74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7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47" name="Google Shape;747;p7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8" name="Google Shape;748;p75"/>
          <p:cNvSpPr txBox="1"/>
          <p:nvPr/>
        </p:nvSpPr>
        <p:spPr>
          <a:xfrm>
            <a:off x="30725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AutoNum type="arabicPeriod"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Тело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Каждые 10 минут обращайте внимание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 свои плечи, скулы, брови, лоб и живот.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Напряжение — мягкий выдох — расслабление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Ненапряженность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9" name="Google Shape;749;p75"/>
          <p:cNvSpPr txBox="1"/>
          <p:nvPr/>
        </p:nvSpPr>
        <p:spPr>
          <a:xfrm>
            <a:off x="611520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Дыхание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Дыхание под счет всего 1 минуту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50" name="Google Shape;750;p75"/>
          <p:cNvCxnSpPr/>
          <p:nvPr/>
        </p:nvCxnSpPr>
        <p:spPr>
          <a:xfrm rot="10800000">
            <a:off x="457250" y="4331950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1" name="Google Shape;751;p75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75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61899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75"/>
          <p:cNvSpPr txBox="1"/>
          <p:nvPr/>
        </p:nvSpPr>
        <p:spPr>
          <a:xfrm>
            <a:off x="611520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Дыхание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Дыхание под счет всего 1 минуту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Сфокусированность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4" name="Google Shape;754;p75"/>
          <p:cNvSpPr txBox="1"/>
          <p:nvPr/>
        </p:nvSpPr>
        <p:spPr>
          <a:xfrm>
            <a:off x="11874600" y="4970825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Паузы в течение дня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Берите паузу между сменой деятельности, делайте минутную паузу в долгом разговоре </a:t>
            </a: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Ясность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55" name="Google Shape;755;p75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 rot="-5400000">
            <a:off x="12293900" y="7283175"/>
            <a:ext cx="2606448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25800"/>
            <a:ext cx="18288000" cy="104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76"/>
          <p:cNvSpPr txBox="1"/>
          <p:nvPr/>
        </p:nvSpPr>
        <p:spPr>
          <a:xfrm>
            <a:off x="240150" y="0"/>
            <a:ext cx="16743300" cy="3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Индивидуальные </a:t>
            </a:r>
            <a:b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9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майндфулнес-сессии</a:t>
            </a:r>
            <a:endParaRPr sz="117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62" name="Google Shape;76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7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64" name="Google Shape;764;p7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5" name="Google Shape;765;p76"/>
          <p:cNvPicPr preferRelativeResize="0"/>
          <p:nvPr/>
        </p:nvPicPr>
        <p:blipFill rotWithShape="1">
          <a:blip r:embed="rId5">
            <a:alphaModFix/>
          </a:blip>
          <a:srcRect b="50" l="0" r="0" t="40"/>
          <a:stretch/>
        </p:blipFill>
        <p:spPr>
          <a:xfrm rot="-5400000">
            <a:off x="1785965" y="4530965"/>
            <a:ext cx="5978060" cy="5175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7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Запросы: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71" name="Google Shape;77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7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73" name="Google Shape;773;p7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4" name="Google Shape;774;p77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77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Хочу научиться медитировать;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пробовал(-а) медитировать самостоятельно и не получилось (засыпаю, отлетаю в мысли, не чувствую эффекта);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не могу сосредоточиться, много разных мыслей;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постоянно ощущаю тревожность;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испытываю ощущение вечной спешки </a:t>
            </a:r>
            <a:br>
              <a:rPr lang="en" sz="3000">
                <a:latin typeface="Inter"/>
                <a:ea typeface="Inter"/>
                <a:cs typeface="Inter"/>
                <a:sym typeface="Inter"/>
              </a:rPr>
            </a:br>
            <a:r>
              <a:rPr lang="en" sz="3000">
                <a:latin typeface="Inter"/>
                <a:ea typeface="Inter"/>
                <a:cs typeface="Inter"/>
                <a:sym typeface="Inter"/>
              </a:rPr>
              <a:t>и FOMO;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хочу расслабиться;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ощущаю много стресса;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ваш запрос.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6" name="Google Shape;776;p77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8"/>
          <p:cNvSpPr txBox="1"/>
          <p:nvPr/>
        </p:nvSpPr>
        <p:spPr>
          <a:xfrm>
            <a:off x="240150" y="0"/>
            <a:ext cx="15482700" cy="7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выглядит сессия</a:t>
            </a: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endParaRPr i="1" sz="92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82" name="Google Shape;78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84" name="Google Shape;784;p7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5" name="Google Shape;785;p78"/>
          <p:cNvPicPr preferRelativeResize="0"/>
          <p:nvPr/>
        </p:nvPicPr>
        <p:blipFill rotWithShape="1">
          <a:blip r:embed="rId4">
            <a:alphaModFix/>
          </a:blip>
          <a:srcRect b="-29694" l="-11684" r="-11696" t="-29694"/>
          <a:stretch/>
        </p:blipFill>
        <p:spPr>
          <a:xfrm>
            <a:off x="240150" y="7437325"/>
            <a:ext cx="2606448" cy="2914751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78"/>
          <p:cNvSpPr txBox="1"/>
          <p:nvPr/>
        </p:nvSpPr>
        <p:spPr>
          <a:xfrm>
            <a:off x="240150" y="2882250"/>
            <a:ext cx="86181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нестрашно. Вам не нужно готовиться или что-то уметь</a:t>
            </a:r>
            <a:r>
              <a:rPr lang="en" sz="3000">
                <a:latin typeface="Inter"/>
                <a:ea typeface="Inter"/>
                <a:cs typeface="Inter"/>
                <a:sym typeface="Inter"/>
              </a:rPr>
              <a:t>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мы обсудим ваш запрос;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попробуем практику под ваш запрос;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обсудим эффект практики и ваши ощущения;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подберем для вас регулярную практику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87" name="Google Shape;787;p78"/>
          <p:cNvCxnSpPr/>
          <p:nvPr/>
        </p:nvCxnSpPr>
        <p:spPr>
          <a:xfrm rot="10800000">
            <a:off x="457250" y="2440575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01" y="2420550"/>
            <a:ext cx="12699453" cy="10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9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rgbClr val="EBEBEB"/>
                </a:solidFill>
                <a:latin typeface="Inter Medium"/>
                <a:ea typeface="Inter Medium"/>
                <a:cs typeface="Inter Medium"/>
                <a:sym typeface="Inter Medium"/>
              </a:rPr>
              <a:t>Время для фото</a:t>
            </a:r>
            <a:endParaRPr sz="7000">
              <a:solidFill>
                <a:srgbClr val="EBEB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4" name="Google Shape;794;p79"/>
          <p:cNvSpPr txBox="1"/>
          <p:nvPr/>
        </p:nvSpPr>
        <p:spPr>
          <a:xfrm>
            <a:off x="240150" y="4881275"/>
            <a:ext cx="62886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Спасибо всем, </a:t>
            </a:r>
            <a:endParaRPr sz="4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кто присоединился.</a:t>
            </a:r>
            <a:endParaRPr sz="4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95" name="Google Shape;795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9"/>
          <p:cNvSpPr/>
          <p:nvPr/>
        </p:nvSpPr>
        <p:spPr>
          <a:xfrm>
            <a:off x="17643150" y="457200"/>
            <a:ext cx="187800" cy="1878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